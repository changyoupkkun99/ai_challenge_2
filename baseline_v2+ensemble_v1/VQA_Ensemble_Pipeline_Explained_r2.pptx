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8f4f9562d4ca4" /><Relationship Type="http://schemas.openxmlformats.org/officeDocument/2006/relationships/extended-properties" Target="/docProps/app.xml" Id="R26354083acbc4e77" /><Relationship Type="http://schemas.openxmlformats.org/officeDocument/2006/relationships/officeDocument" Target="/ppt/presentation.xml" Id="R393e8ddf2333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7b96d266574bea"/>
  </p:sldMasterIdLst>
  <p:notesMasterIdLst>
    <p:notesMasterId xmlns:r="http://schemas.openxmlformats.org/officeDocument/2006/relationships" r:id="Rf5cd0fd2f11642c2"/>
  </p:notesMasterIdLst>
  <p:sldIdLst>
    <p:sldId xmlns:r="http://schemas.openxmlformats.org/officeDocument/2006/relationships" id="256" r:id="Rac05dad19a6a4ec0"/>
    <p:sldId xmlns:r="http://schemas.openxmlformats.org/officeDocument/2006/relationships" id="257" r:id="Re6cc052fb3ba493d"/>
    <p:sldId xmlns:r="http://schemas.openxmlformats.org/officeDocument/2006/relationships" id="258" r:id="R06cb1e0c51664772"/>
    <p:sldId xmlns:r="http://schemas.openxmlformats.org/officeDocument/2006/relationships" id="259" r:id="R4433636ebc20400d"/>
    <p:sldId xmlns:r="http://schemas.openxmlformats.org/officeDocument/2006/relationships" id="260" r:id="Rf813fa09ca974622"/>
    <p:sldId xmlns:r="http://schemas.openxmlformats.org/officeDocument/2006/relationships" id="261" r:id="R6e496944491940a3"/>
    <p:sldId xmlns:r="http://schemas.openxmlformats.org/officeDocument/2006/relationships" id="262" r:id="R409b29f7a2a04bc4"/>
    <p:sldId xmlns:r="http://schemas.openxmlformats.org/officeDocument/2006/relationships" id="263" r:id="Rd603824d6c234a6e"/>
    <p:sldId xmlns:r="http://schemas.openxmlformats.org/officeDocument/2006/relationships" id="264" r:id="R69dda7df65924993"/>
    <p:sldId xmlns:r="http://schemas.openxmlformats.org/officeDocument/2006/relationships" id="265" r:id="R3b1f509fdf794fc3"/>
    <p:sldId xmlns:r="http://schemas.openxmlformats.org/officeDocument/2006/relationships" id="266" r:id="R38580eb65a964b2c"/>
    <p:sldId xmlns:r="http://schemas.openxmlformats.org/officeDocument/2006/relationships" id="267" r:id="R52c9b75827fd41d0"/>
    <p:sldId xmlns:r="http://schemas.openxmlformats.org/officeDocument/2006/relationships" id="268" r:id="R2d222a2dfbd14dde"/>
    <p:sldId xmlns:r="http://schemas.openxmlformats.org/officeDocument/2006/relationships" id="269" r:id="R0287ed96eef544e8"/>
    <p:sldId xmlns:r="http://schemas.openxmlformats.org/officeDocument/2006/relationships" id="270" r:id="R03a1dd0a0f844f88"/>
    <p:sldId xmlns:r="http://schemas.openxmlformats.org/officeDocument/2006/relationships" id="271" r:id="Rc5dd5b4936ee4fb6"/>
    <p:sldId xmlns:r="http://schemas.openxmlformats.org/officeDocument/2006/relationships" id="272" r:id="Rdad8be748771475a"/>
    <p:sldId xmlns:r="http://schemas.openxmlformats.org/officeDocument/2006/relationships" id="273" r:id="Ra730fa0b0fac42e4"/>
    <p:sldId xmlns:r="http://schemas.openxmlformats.org/officeDocument/2006/relationships" id="274" r:id="R40366e99c5144576"/>
    <p:sldId xmlns:r="http://schemas.openxmlformats.org/officeDocument/2006/relationships" id="275" r:id="R775c48284aba428d"/>
    <p:sldId xmlns:r="http://schemas.openxmlformats.org/officeDocument/2006/relationships" id="276" r:id="Rb555da54b40c47c9"/>
    <p:sldId xmlns:r="http://schemas.openxmlformats.org/officeDocument/2006/relationships" id="277" r:id="R8b3a5886632149f5"/>
    <p:sldId xmlns:r="http://schemas.openxmlformats.org/officeDocument/2006/relationships" id="278" r:id="R71459dded76e41b9"/>
    <p:sldId xmlns:r="http://schemas.openxmlformats.org/officeDocument/2006/relationships" id="279" r:id="Raf71e77ed8b54af7"/>
    <p:sldId xmlns:r="http://schemas.openxmlformats.org/officeDocument/2006/relationships" id="280" r:id="Rbb06e145b0184a08"/>
    <p:sldId xmlns:r="http://schemas.openxmlformats.org/officeDocument/2006/relationships" id="281" r:id="R1d9beac607ba4fc9"/>
    <p:sldId xmlns:r="http://schemas.openxmlformats.org/officeDocument/2006/relationships" id="282" r:id="R2b88d926b3044f22"/>
    <p:sldId xmlns:r="http://schemas.openxmlformats.org/officeDocument/2006/relationships" id="283" r:id="R50f5a098f794485b"/>
    <p:sldId xmlns:r="http://schemas.openxmlformats.org/officeDocument/2006/relationships" id="284" r:id="R3de91c9b0e6f490e"/>
    <p:sldId xmlns:r="http://schemas.openxmlformats.org/officeDocument/2006/relationships" id="285" r:id="R03aa435a1150443a"/>
    <p:sldId xmlns:r="http://schemas.openxmlformats.org/officeDocument/2006/relationships" id="286" r:id="R074d1dff09e942c0"/>
    <p:sldId xmlns:r="http://schemas.openxmlformats.org/officeDocument/2006/relationships" id="287" r:id="R8e0a9fab44cb4ece"/>
    <p:sldId xmlns:r="http://schemas.openxmlformats.org/officeDocument/2006/relationships" id="288" r:id="R994e9851f7d24551"/>
    <p:sldId xmlns:r="http://schemas.openxmlformats.org/officeDocument/2006/relationships" id="289" r:id="Rdccb089c169340d0"/>
    <p:sldId xmlns:r="http://schemas.openxmlformats.org/officeDocument/2006/relationships" id="290" r:id="R199c3c3379ff48fe"/>
    <p:sldId xmlns:r="http://schemas.openxmlformats.org/officeDocument/2006/relationships" id="291" r:id="Rfde447d879054e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0c5da17a8472e" /><Relationship Type="http://schemas.openxmlformats.org/officeDocument/2006/relationships/slideMaster" Target="/ppt/slideMasters/slideMaster1.xml" Id="Rf17b96d266574bea" /><Relationship Type="http://schemas.openxmlformats.org/officeDocument/2006/relationships/notesMaster" Target="/ppt/notesMasters/notesMaster1.xml" Id="Rf5cd0fd2f11642c2" /><Relationship Type="http://schemas.openxmlformats.org/officeDocument/2006/relationships/presProps" Target="/ppt/presProps.xml" Id="R320fea52915b484f" /><Relationship Type="http://schemas.openxmlformats.org/officeDocument/2006/relationships/tableStyles" Target="/ppt/tableStyles.xml" Id="Re8d29f3ccab54520" /><Relationship Type="http://schemas.openxmlformats.org/officeDocument/2006/relationships/slide" Target="/ppt/slides/slide1.xml" Id="Rac05dad19a6a4ec0" /><Relationship Type="http://schemas.openxmlformats.org/officeDocument/2006/relationships/slide" Target="/ppt/slides/slide2.xml" Id="Re6cc052fb3ba493d" /><Relationship Type="http://schemas.openxmlformats.org/officeDocument/2006/relationships/slide" Target="/ppt/slides/slide3.xml" Id="R06cb1e0c51664772" /><Relationship Type="http://schemas.openxmlformats.org/officeDocument/2006/relationships/slide" Target="/ppt/slides/slide4.xml" Id="R4433636ebc20400d" /><Relationship Type="http://schemas.openxmlformats.org/officeDocument/2006/relationships/slide" Target="/ppt/slides/slide5.xml" Id="Rf813fa09ca974622" /><Relationship Type="http://schemas.openxmlformats.org/officeDocument/2006/relationships/slide" Target="/ppt/slides/slide6.xml" Id="R6e496944491940a3" /><Relationship Type="http://schemas.openxmlformats.org/officeDocument/2006/relationships/slide" Target="/ppt/slides/slide7.xml" Id="R409b29f7a2a04bc4" /><Relationship Type="http://schemas.openxmlformats.org/officeDocument/2006/relationships/slide" Target="/ppt/slides/slide8.xml" Id="Rd603824d6c234a6e" /><Relationship Type="http://schemas.openxmlformats.org/officeDocument/2006/relationships/slide" Target="/ppt/slides/slide9.xml" Id="R69dda7df65924993" /><Relationship Type="http://schemas.openxmlformats.org/officeDocument/2006/relationships/slide" Target="/ppt/slides/slide10.xml" Id="R3b1f509fdf794fc3" /><Relationship Type="http://schemas.openxmlformats.org/officeDocument/2006/relationships/slide" Target="/ppt/slides/slide11.xml" Id="R38580eb65a964b2c" /><Relationship Type="http://schemas.openxmlformats.org/officeDocument/2006/relationships/slide" Target="/ppt/slides/slide12.xml" Id="R52c9b75827fd41d0" /><Relationship Type="http://schemas.openxmlformats.org/officeDocument/2006/relationships/slide" Target="/ppt/slides/slide13.xml" Id="R2d222a2dfbd14dde" /><Relationship Type="http://schemas.openxmlformats.org/officeDocument/2006/relationships/slide" Target="/ppt/slides/slide14.xml" Id="R0287ed96eef544e8" /><Relationship Type="http://schemas.openxmlformats.org/officeDocument/2006/relationships/slide" Target="/ppt/slides/slide15.xml" Id="R03a1dd0a0f844f88" /><Relationship Type="http://schemas.openxmlformats.org/officeDocument/2006/relationships/slide" Target="/ppt/slides/slide16.xml" Id="Rc5dd5b4936ee4fb6" /><Relationship Type="http://schemas.openxmlformats.org/officeDocument/2006/relationships/slide" Target="/ppt/slides/slide17.xml" Id="Rdad8be748771475a" /><Relationship Type="http://schemas.openxmlformats.org/officeDocument/2006/relationships/slide" Target="/ppt/slides/slide18.xml" Id="Ra730fa0b0fac42e4" /><Relationship Type="http://schemas.openxmlformats.org/officeDocument/2006/relationships/slide" Target="/ppt/slides/slide19.xml" Id="R40366e99c5144576" /><Relationship Type="http://schemas.openxmlformats.org/officeDocument/2006/relationships/slide" Target="/ppt/slides/slide20.xml" Id="R775c48284aba428d" /><Relationship Type="http://schemas.openxmlformats.org/officeDocument/2006/relationships/slide" Target="/ppt/slides/slide21.xml" Id="Rb555da54b40c47c9" /><Relationship Type="http://schemas.openxmlformats.org/officeDocument/2006/relationships/slide" Target="/ppt/slides/slide22.xml" Id="R8b3a5886632149f5" /><Relationship Type="http://schemas.openxmlformats.org/officeDocument/2006/relationships/slide" Target="/ppt/slides/slide23.xml" Id="R71459dded76e41b9" /><Relationship Type="http://schemas.openxmlformats.org/officeDocument/2006/relationships/slide" Target="/ppt/slides/slide24.xml" Id="Raf71e77ed8b54af7" /><Relationship Type="http://schemas.openxmlformats.org/officeDocument/2006/relationships/slide" Target="/ppt/slides/slide25.xml" Id="Rbb06e145b0184a08" /><Relationship Type="http://schemas.openxmlformats.org/officeDocument/2006/relationships/slide" Target="/ppt/slides/slide26.xml" Id="R1d9beac607ba4fc9" /><Relationship Type="http://schemas.openxmlformats.org/officeDocument/2006/relationships/slide" Target="/ppt/slides/slide27.xml" Id="R2b88d926b3044f22" /><Relationship Type="http://schemas.openxmlformats.org/officeDocument/2006/relationships/slide" Target="/ppt/slides/slide28.xml" Id="R50f5a098f794485b" /><Relationship Type="http://schemas.openxmlformats.org/officeDocument/2006/relationships/slide" Target="/ppt/slides/slide29.xml" Id="R3de91c9b0e6f490e" /><Relationship Type="http://schemas.openxmlformats.org/officeDocument/2006/relationships/slide" Target="/ppt/slides/slide30.xml" Id="R03aa435a1150443a" /><Relationship Type="http://schemas.openxmlformats.org/officeDocument/2006/relationships/slide" Target="/ppt/slides/slide31.xml" Id="R074d1dff09e942c0" /><Relationship Type="http://schemas.openxmlformats.org/officeDocument/2006/relationships/slide" Target="/ppt/slides/slide32.xml" Id="R8e0a9fab44cb4ece" /><Relationship Type="http://schemas.openxmlformats.org/officeDocument/2006/relationships/slide" Target="/ppt/slides/slide33.xml" Id="R994e9851f7d24551" /><Relationship Type="http://schemas.openxmlformats.org/officeDocument/2006/relationships/slide" Target="/ppt/slides/slide34.xml" Id="Rdccb089c169340d0" /><Relationship Type="http://schemas.openxmlformats.org/officeDocument/2006/relationships/slide" Target="/ppt/slides/slide35.xml" Id="R199c3c3379ff48fe" /><Relationship Type="http://schemas.openxmlformats.org/officeDocument/2006/relationships/slide" Target="/ppt/slides/slide36.xml" Id="Rfde447d879054e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bf87ea0b9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695a50ab214b33" /><Relationship Type="http://schemas.openxmlformats.org/officeDocument/2006/relationships/notesMaster" Target="/ppt/notesMasters/notesMaster1.xml" Id="R0fc78d2212294c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27b5bb3a947f5" /><Relationship Type="http://schemas.openxmlformats.org/officeDocument/2006/relationships/notesMaster" Target="/ppt/notesMasters/notesMaster1.xml" Id="R68d78c782b8240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ae231f855b4662" /><Relationship Type="http://schemas.openxmlformats.org/officeDocument/2006/relationships/notesMaster" Target="/ppt/notesMasters/notesMaster1.xml" Id="Re0042d128c3d45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e4c562a556491a" /><Relationship Type="http://schemas.openxmlformats.org/officeDocument/2006/relationships/notesMaster" Target="/ppt/notesMasters/notesMaster1.xml" Id="R48a8bda60dfc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bc7c3fcdd94e26" /><Relationship Type="http://schemas.openxmlformats.org/officeDocument/2006/relationships/notesMaster" Target="/ppt/notesMasters/notesMaster1.xml" Id="R6c58b83a3cfd4a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9353c4a06d4219" /><Relationship Type="http://schemas.openxmlformats.org/officeDocument/2006/relationships/notesMaster" Target="/ppt/notesMasters/notesMaster1.xml" Id="R666b38e95f8842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f816d98ce7439a" /><Relationship Type="http://schemas.openxmlformats.org/officeDocument/2006/relationships/notesMaster" Target="/ppt/notesMasters/notesMaster1.xml" Id="Rcb608d99da1042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5a2d1e2174469" /><Relationship Type="http://schemas.openxmlformats.org/officeDocument/2006/relationships/notesMaster" Target="/ppt/notesMasters/notesMaster1.xml" Id="Rff01ac2fa6ce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a148c8e6e4f28" /><Relationship Type="http://schemas.openxmlformats.org/officeDocument/2006/relationships/notesMaster" Target="/ppt/notesMasters/notesMaster1.xml" Id="R54e470c014e74b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07825ba84449a7" /><Relationship Type="http://schemas.openxmlformats.org/officeDocument/2006/relationships/notesMaster" Target="/ppt/notesMasters/notesMaster1.xml" Id="Re2e2e9aae0634e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335bd2ff7e4ec1" /><Relationship Type="http://schemas.openxmlformats.org/officeDocument/2006/relationships/notesMaster" Target="/ppt/notesMasters/notesMaster1.xml" Id="R1f3afb76d65b4c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0a9ffbc1594aac" /><Relationship Type="http://schemas.openxmlformats.org/officeDocument/2006/relationships/notesMaster" Target="/ppt/notesMasters/notesMaster1.xml" Id="R45c713e121594f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45b449193a4438" /><Relationship Type="http://schemas.openxmlformats.org/officeDocument/2006/relationships/notesMaster" Target="/ppt/notesMasters/notesMaster1.xml" Id="R0084f6795c8343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4f787704134f61" /><Relationship Type="http://schemas.openxmlformats.org/officeDocument/2006/relationships/notesMaster" Target="/ppt/notesMasters/notesMaster1.xml" Id="R8732697f8f1645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6b40e559b34371" /><Relationship Type="http://schemas.openxmlformats.org/officeDocument/2006/relationships/notesMaster" Target="/ppt/notesMasters/notesMaster1.xml" Id="R52bfa8af1a2542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25823633284e95" /><Relationship Type="http://schemas.openxmlformats.org/officeDocument/2006/relationships/notesMaster" Target="/ppt/notesMasters/notesMaster1.xml" Id="Rcdbec3c5bc584c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19e0405e0b449f" /><Relationship Type="http://schemas.openxmlformats.org/officeDocument/2006/relationships/notesMaster" Target="/ppt/notesMasters/notesMaster1.xml" Id="Rdd0ddffd51384d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08770299c94fbd" /><Relationship Type="http://schemas.openxmlformats.org/officeDocument/2006/relationships/notesMaster" Target="/ppt/notesMasters/notesMaster1.xml" Id="R79d230638af541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0068948bb74db9" /><Relationship Type="http://schemas.openxmlformats.org/officeDocument/2006/relationships/notesMaster" Target="/ppt/notesMasters/notesMaster1.xml" Id="R709e75f68b904d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c2a04baf48430a" /><Relationship Type="http://schemas.openxmlformats.org/officeDocument/2006/relationships/notesMaster" Target="/ppt/notesMasters/notesMaster1.xml" Id="R0c681df7efe245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9878af7bba4f6a" /><Relationship Type="http://schemas.openxmlformats.org/officeDocument/2006/relationships/notesMaster" Target="/ppt/notesMasters/notesMaster1.xml" Id="R0c7eb545f79141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bb828c17d34557" /><Relationship Type="http://schemas.openxmlformats.org/officeDocument/2006/relationships/notesMaster" Target="/ppt/notesMasters/notesMaster1.xml" Id="R320e4dc381af459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12f8619980446d" /><Relationship Type="http://schemas.openxmlformats.org/officeDocument/2006/relationships/notesMaster" Target="/ppt/notesMasters/notesMaster1.xml" Id="Rad3f7198948846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9e1a30f6e7d4d3c" /><Relationship Type="http://schemas.openxmlformats.org/officeDocument/2006/relationships/notesMaster" Target="/ppt/notesMasters/notesMaster1.xml" Id="R2a1c618f98264d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483398417846ea" /><Relationship Type="http://schemas.openxmlformats.org/officeDocument/2006/relationships/notesMaster" Target="/ppt/notesMasters/notesMaster1.xml" Id="Rb62a3fecf31a41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94c18a41d9450a" /><Relationship Type="http://schemas.openxmlformats.org/officeDocument/2006/relationships/notesMaster" Target="/ppt/notesMasters/notesMaster1.xml" Id="R8a4e747ba9a046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61f306ed6946b5" /><Relationship Type="http://schemas.openxmlformats.org/officeDocument/2006/relationships/notesMaster" Target="/ppt/notesMasters/notesMaster1.xml" Id="R3361553b05ed4e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9e410e3a7af428d" /><Relationship Type="http://schemas.openxmlformats.org/officeDocument/2006/relationships/notesMaster" Target="/ppt/notesMasters/notesMaster1.xml" Id="Ra72b137ccff34d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dcb15a78ec34b30" /><Relationship Type="http://schemas.openxmlformats.org/officeDocument/2006/relationships/notesMaster" Target="/ppt/notesMasters/notesMaster1.xml" Id="R34d48054086d40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656d9048c80485d" /><Relationship Type="http://schemas.openxmlformats.org/officeDocument/2006/relationships/notesMaster" Target="/ppt/notesMasters/notesMaster1.xml" Id="Rb7850134e7b046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8b81079b524751" /><Relationship Type="http://schemas.openxmlformats.org/officeDocument/2006/relationships/notesMaster" Target="/ppt/notesMasters/notesMaster1.xml" Id="Rd381f481d4a342f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ebcb90cb7442dc" /><Relationship Type="http://schemas.openxmlformats.org/officeDocument/2006/relationships/notesMaster" Target="/ppt/notesMasters/notesMaster1.xml" Id="R693b76b3cd6c47e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b04d15e0ad04155" /><Relationship Type="http://schemas.openxmlformats.org/officeDocument/2006/relationships/notesMaster" Target="/ppt/notesMasters/notesMaster1.xml" Id="Rc668de91987846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cc2356922d44c88" /><Relationship Type="http://schemas.openxmlformats.org/officeDocument/2006/relationships/notesMaster" Target="/ppt/notesMasters/notesMaster1.xml" Id="R79c2d42454964d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0677d480de49d6" /><Relationship Type="http://schemas.openxmlformats.org/officeDocument/2006/relationships/notesMaster" Target="/ppt/notesMasters/notesMaster1.xml" Id="Ra820e1b6190f413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57edd2992414526" /><Relationship Type="http://schemas.openxmlformats.org/officeDocument/2006/relationships/notesMaster" Target="/ppt/notesMasters/notesMaster1.xml" Id="Rc26297f9b3c3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모델편 다음에 읽는 앙상블편이다. 모델 학습·추론은 앞의 독립 노트북에서 끝내고, 이 노트북은 저장된 예측만 입력받는다. 실제 코드는 20단계로 구성되어 있다. 예시 확률·오류 수는 설명용이며 실제 대회 실행 점수와 구분한다. 과거 A의 성적은 사용자 제공 기록으로 마지막에 별도로 다룬다.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VQA_Ensemble_Baseline_v1.ipynb의 개요 및 01~20단계, VQA_Ensemble_Config.json.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모델편의 TTA는 한 checkpoint에 보기 순서·이미지 변형을 바꿔 여러 번 추론하는 과정이다. 앙상블은 여러 모델 또는 여러 run이 이미 저장한 결과를 결합한다. 입력 run의 valid_probs/test_probs는 upstream의 TTA 평균을 포함할 수 있다. 여기서 VLM을 다시 불러오거나 LoRA를 추가 학습하지 않는다. 단, RF와 Logistic은 예측을 입력받는 별도 메타 분류기로 CPU에서 학습할 수 있다. 같은 checkpoint 변형 여러 개를 독립 모델이라고 해석하면 표 수가 늘어난 효과와 다양성 증가를 혼동할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개요</a:t>
            </a:r>
          </a:p>
          <a:p xmlns:a="http://schemas.openxmlformats.org/drawingml/2006/main">
            <a:r>
              <a:t>VQA_Ensemble_Baseline.py: load_model, run_ensemble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soft와 hard 입력을 각각 읽고 ID와 class order를 먼저 일치시킨다. 공통 validation을 이미지 그룹 기준으로 meta-fit과 meta-holdout으로 분리한다. soft 평균·hard 투표·core/guard 같은 규칙 후보와 선택적인 RF/Logistic 후보를 생성한다. 학습 옵션이나 fit_oof 선택을 사용하면 meta-fit 내부 OOF를 수행한다. 고정 정책 또는 fit OOF로 선택을 저장한 뒤 holdout 점수를 보고한다. export에서는 같은 fitted state로 test를 결합하고 sample submission ID 순서로 CSV를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전체 구조</a:t>
            </a:r>
          </a:p>
          <a:p xmlns:a="http://schemas.openxmlformats.org/drawingml/2006/main">
            <a:r>
              <a:t>VQA_Ensemble_Baseline.py: run_ensemble, recipe_candidates, select_recipe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설치 셀은 INSTALL_PACKAGES=False가 기본값이다. 작성 당시 CPU 검증 버전을 NumPy 2.3.5, pandas 2.2.3, SciPy 1.17.0, scikit-learn 1.8.0으로 고정해 두었다. 이 값은 사용자 환경을 자동 교체한다는 뜻이 아니다. 실제 설치된 버전은 environment.json에 남긴다. NumPy는 NPY와 배열, pandas는 CSV, SciPy는 온도와 soft 가중치 최적화, sklearn은 그룹 분할과 RF/Logistic을 담당한다. 별도의 VLM 설치·GPU 메모리는 이 단계에 필요하지 않다.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01 환경 준비</a:t>
            </a:r>
          </a:p>
          <a:p xmlns:a="http://schemas.openxmlformats.org/drawingml/2006/main">
            <a:r>
              <a:t>VQA_Ensemble_Baseline.py: environment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VQA_Ensemble_Baseline_v1.ipynb는 standalone 노트북이다. VQA_Ensemble_Baseline.py는 동일 기능을 CLI로 실행한다. Config.json은 펼친 기본값이며 README는 입력 규약과 실행 방법을 설명한다. 모델 목록과 경로는 빈 상태로 시작한다. 기본 seed는 42, 기본 anchor는 meta-fit 정확도로 선택, calibration과 learned weights 및 meta models는 off, selection은 fixed/anchor_soft_guard다. JSON·CSV·NPY 저장은 임시 파일을 만든 뒤 교체하는 방식이고 입력 파일 SHA256을 감사에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02 공통 함수 · 03 설정</a:t>
            </a:r>
          </a:p>
          <a:p xmlns:a="http://schemas.openxmlformats.org/drawingml/2006/main">
            <a:r>
              <a:t>VQA_Ensemble_Baseline.py: default_config, validate_config, save_json, hash_file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20번 셀에 완료된 run 경로를 등록한다. soft_run은 앞 모델 노트북의 probs 폴더와 validation_rows.csv 등을 자동으로 찾아 읽는다. heldout_predictions_confirmed=True는 실제 VLM 학습에서 해당 validation을 제외했음을 확인한 뒤 지정한다. 존재하지 않는 run을 예시 이름만으로 등록하면 실행되지 않는다. validation_csv와 sample_submission_csv를 연결하고, 경로는 Colab/로컬 환경에 맞게 수정한다. 아래 코드는 경로만 바꾸는 짧은 등록 예이며 세 가지 모델 이름이 실제 준비된 것을 전제하지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05 모델 로드 · 20 실행 설정</a:t>
            </a:r>
          </a:p>
          <a:p xmlns:a="http://schemas.openxmlformats.org/drawingml/2006/main">
            <a:r>
              <a:t>VQA_Ensemble_Baseline.py: load_model, default_config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모델마다 저장 행 순서가 달라도 ID 집합이 완전히 같으면 canonical 순서로 재배열한다. valid는 정답 CSV/validation_rows 순서, test는 sample submission의 원래 순서가 기준이다. 숫자형 정수 ID는 문자열로 바꾸고 문자열 ID의 0 접두사는 유지한다. ID 중복·누락·추가가 있으면 실패한다. 교집합만 뽑아 평가 집합을 줄이지 않는다. 실제 예시 ID 001과 010을 서로 바꾸면 정답을 다른 문항에 붙이게 되므로 정확한 문자열 join이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04 ID 검증 · 06 공통 정렬</a:t>
            </a:r>
          </a:p>
          <a:p xmlns:a="http://schemas.openxmlformats.org/drawingml/2006/main">
            <a:r>
              <a:t>VQA_Ensemble_Baseline.py: normalize_id, check_ids, align_array, canonical_test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확률 배열의 열 순서가 d,c,b,a라면 canonical a,b,c,d를 위해 열 인덱스 3,2,1,0을 적용한다. valid_labels의 정수 인덱스도 입력 class_order에 따라 문자로 해석한 뒤 canonical 정수로 변환한다. upstream에서 보기 shift를 썼다면 원래 보기 순서로 역매핑했다는 metadata가 필요하다. 열 이름 정렬과 shift 역매핑은 다른 작업이다. 이미 복원된 결과에 shift를 다시 적용하면 오답을 만든다. 아래 값은 설명용 한 행이다.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04 클래스 검증</a:t>
            </a:r>
          </a:p>
          <a:p xmlns:a="http://schemas.openxmlformats.org/drawingml/2006/main">
            <a:r>
              <a:t>VQA_Ensemble_Baseline.py: class_permutation, answers_to_indices, load_model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soft_run은 모델편 run 폴더를, soft_files는 외부 NPY와 ID를, hard_csv는 답 CSV를 읽는다. 외부 soft는 class_order, original_option_order, confirmed_real_soft 등 출처 확인이 필요하다. 실제 soft 입력은 N×4이고 유한한 0~1 값, 행 합 1을 확인한다. 전체가 one-hot인 입력은 기본 거부한다. hard indicator는 RF의 범주형 feature로만 사용할 수 있다. test_only는 valid가 없다는 role 선언이며 학습과 후보 선택에서 제외한다. 파일 이름만 probs라고 붙였다고 실제 모델 확률임을 증명할 수는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05 모델별 soft/hard 로드</a:t>
            </a:r>
          </a:p>
          <a:p xmlns:a="http://schemas.openxmlformats.org/drawingml/2006/main">
            <a:r>
              <a:t>VQA_Ensemble_Baseline.py: load_model, input_catalog, check_probs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모델편의 logits.npy는 원래 보기 순서로 복원한 reference shift의 실제 choice logits이고, probs.npy는 여러 shift의 확률을 각각 복원해 평균한 최종 결과다. 따라서 reference logits의 softmax와 final_probs는 일반적으로 다르다. 앙상블 코드는 final_probs를 읽고 raw_logits_consumed=False를 남긴다. 아래 shift0과 shift2 확률 예시를 평균하면 a=.50,b=.40,c=.05,d=.05다. shift0만 다시 softmax해 쓴다면 a=.70만 반영해 TTA 효과를 잃는다. 모델 run마다 metadata의 확률 의미를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05 모델별 soft/hard 로드</a:t>
            </a:r>
          </a:p>
          <a:p xmlns:a="http://schemas.openxmlformats.org/drawingml/2006/main">
            <a:r>
              <a:t>VQA_Ensemble_Baseline.py: load_model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validation에는 원본 train_gold 정답을 사용한다. _src가 있으면 train_gold만 허용하고, 없으면 validation_is_gold_confirmed를 확인한다. validation_rows가 있으면 같은 ID의 정답과 질문/a/b/c/d/_hash를 대조한다. 파일이 없으면 same_task_confirmed와 heldout 선언에 의존하며 한계를 경고에 남긴다. training_rows가 있으면 원 모델 train과 valid의 ID, _group, _hash 중복을 검사한다. validation_signature가 달라도 ID 정렬 후 충분한 내용과 이미지 해시가 모두 같으면 서명 차이를 기록하며 허용한다. 672·1343·1434는 개수만 다를 수 있는 별도 집합이므로 교집합 자동 평가를 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06 공통 validation·test 정렬</a:t>
            </a:r>
          </a:p>
          <a:p xmlns:a="http://schemas.openxmlformats.org/drawingml/2006/main">
            <a:r>
              <a:t>VQA_Ensemble_Baseline.py: canonical_validation, canonical_test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meta_split holdout_fraction=.2는 5개 StratifiedGroupKFold 중 크기와 클래스 분포가 전체에 가까운 fold 하나를 holdout으로 고르는 방식이다. 같은 이미지 그룹은 fit과 holdout에 함께 들어갈 수 없다. 그룹 단위라 실제 행 수가 정확히 4:1일 필요는 없고 realized_holdout_fraction을 저장한다. label 비율은 원래 분포를 고려하며 평가 데이터를 무조건 각 25%로 재배열하지 않는다. 이 단계는 원 모델의 train/validation 분할과 별개다. 1000/800/200은 이해를 돕는 예시이고 실제는 meta_split.json의 ID가 기준이다. base VLM 선택에 이미 valid를 썼다면 이 holdout도 프로젝트 전체 수준에서 새로운 독립 데이터가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07 이미지 그룹 meta 분할</a:t>
            </a:r>
          </a:p>
          <a:p xmlns:a="http://schemas.openxmlformats.org/drawingml/2006/main">
            <a:r>
              <a:t>VQA_Ensemble_Baseline.py: grouped_folds, make_meta_split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accuracy는 최종 선택 답이 정답인 비율이며 클래스별 정확도도 계산한다. NLL은 정답 클래스에 둔 확률의 -log 평균이다. Brier는 네 클래스의 확률과 one-hot target 차이의 제곱합 평균이며, 이 구현은 4로 나누지 않는다. ECE는 10개 confidence 구간에서 평균 confidence와 실제 정확도 차이를 가중 평균한다. hard-only 후보에는 확률 지표를 억지로 붙이지 않는다. 확률 지표의 계산 가능 여부와 probability_semantics를 함께 기록한다. rescue/harm은 기준 답의 맞고 틀림을 실제 정답과 비교하는 별도 변화 지표다.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08 평가 지표·Rescue/Harm</a:t>
            </a:r>
          </a:p>
          <a:p xmlns:a="http://schemas.openxmlformats.org/drawingml/2006/main">
            <a:r>
              <a:t>VQA_Ensemble_Baseline.py: metrics, confidence_margin, rescue_harm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설명용 입력은 A=(.50,.40,.05,.05), B=(.10,.80,.05,.05), C=(.20,.70,.05,.05)다. 균등 평균은 (.2667,.6333,.05,.05), A:B:C=2:1:1 가중 평균은 (.325,.575,.05,.05)가 된다. 네 클래스 중 평균 확률이 가장 큰 b를 고른다. soft_mean은 실제 soft 모델만 균등 결합하고, soft_fixed는 명시 가중치의 양수 합으로 정규화한다. 지정하지 않은 모델 가중치는 1이며 전체 합이 0이거나 잘못된 모델 이름이면 실패한다. 이 확률 그림은 대회 실행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09 온도·soft 가중치 · 12 후보 예측</a:t>
            </a:r>
          </a:p>
          <a:p xmlns:a="http://schemas.openxmlformats.org/drawingml/2006/main">
            <a:r>
              <a:t>VQA_Ensemble_Baseline.py: fixed_weights, recipe_candidates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온도 보정은 raw VLM logits를 쓰지 않고 final probability p를 p^(1/T)로 변환한 뒤 다시 정규화한다. 구현은 log(p)/T에 softmax를 적용한다. T의 기본 탐색 범위는 .5~3이며 meta-fit NLL을 줄이는 값을 찾는다. 개선하지 않으면 T=1을 유지한다. 한 모델에서 양수 T 보정은 확률 순위를 유지하지만 서로 다른 모델 확률을 결합할 때 상대 confidence가 달라진다. soft_learned는 합1·0~1의 simplex 가중치로 NLL을 최소화하며 균등 가중치에서 벗어나는 L2 규제 .01을 더한다. 두 기능은 기본 off다. OOF에서는 각 fold의 학습 부분만 사용해 다시 fitting한다.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09 온도·soft 가중치 학습</a:t>
            </a:r>
          </a:p>
          <a:p xmlns:a="http://schemas.openxmlformats.org/drawingml/2006/main">
            <a:r>
              <a:t>VQA_Ensemble_Baseline.py: temperature_probs, fit_temperature, fit_soft_weights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hard_vote는 complete로 등록한 모든 모델의 hard 답을 1표씩 세며 soft 모델도 argmax가 1표다. hard_weighted는 명시된 모델 가중치로 표 점수를 결합한다. 득표 수와 가중 점수는 actual soft probabilities가 아니다. 동점에서는 anchor 답이 최대 득표 클래스 중 하나면 anchor를 선택하고, 아니면 canonical a/b/c/d 중 첫 최대값을 선택한다. 아래 첫 행은 3대2로 b, 두 번째는 b/c 동점에 anchor=c라 c, 세 번째는 anchor=d가 최대 득표에 없어서 b다. 임의 난수로 동점을 처리하지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10 투표·만장일치</a:t>
            </a:r>
          </a:p>
          <a:p xmlns:a="http://schemas.openxmlformats.org/drawingml/2006/main">
            <a:r>
              <a:t>VQA_Ensemble_Baseline.py: vote_counts, resolve_tie, recipe_candidates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core_unanimous의 기본 core는 anchor를 제외한 meta-fit 정확도 상위 최대 3개다. names를 지정하면 그 구성대로 사용한다. 구성원이 2개 미만이면 후보가 없다. unanimous_4/8은 complete 모델 수가 충분할 때 meta-fit 순위의 상위4/8개를 사용한다. 해당 subset이 같은 답이면 그 답을, 아니면 anchor를 쓴다. subset에 anchor가 들어 있고 모든 구성원이 동의하면 그 답은 이미 anchor 답과 같으므로 실제 교체가 없을 수 있다. 같은 모델의 비슷한 변형 여러 개는 독립된 판단을 보장하지 않는다. 아래 core 예시는 실제 답이 아니라 규칙 설명이다.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10 투표·만장일치</a:t>
            </a:r>
          </a:p>
          <a:p xmlns:a="http://schemas.openxmlformats.org/drawingml/2006/main">
            <a:r>
              <a:t>VQA_Ensemble_Baseline.py: rank_models, recipe_candidates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anchor_soft_guard의 proposal 기본값은 soft_fixed다. anchor 자체가 soft이고 proposal도 확률 후보이며, anchor 외 최소2개의 complete 모델이 있어야 후보를 만든다. proposal이 anchor와 다른 답일 때, anchor 제외 지지수≥2, proposal confidence≥.8, margin≥.15, anchor 최대확률≤.9를 모두 만족해야 교체한다. soft_hard_guard는 여기에 전체 hard 다수결 답=proposal 및 최대 득표 비율≥.6 조건을 추가한다. RF guard도 이 hard gate를 사용한다. 값은 검증 전 시작 임계값이다. 교체한 행은 proposal 확률을, 다른 행은 anchor의 원래 확률을 저장하는 routing 방식이다.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10 기준 모델 보호</a:t>
            </a:r>
          </a:p>
          <a:p xmlns:a="http://schemas.openxmlformats.org/drawingml/2006/main">
            <a:r>
              <a:t>VQA_Ensemble_Baseline.py: guard_mask, recipe_candidates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설명용 행1에서 anchor=a, 최대확률 .65, proposal=b, confidence .86, margin .77, anchor 외 지지수2를 가정한다. anchor_soft_guard는 모두 만족해 b로 바꾼다. 행2는 proposal은 같지만 confidence .72여서 유지한다. 행3은 proposal .86이어도 anchor confidence .96으로 .9 상한을 넘어서 유지한다. soft_hard_guard나 rf_guard는 추가로 hard majority와 .6 득표 조건을 통과해야 하므로 이 표만으로 그 후보의 통과를 판정할 수 없다. true label은 제공하지 않았으므로 이 교체가 정답 개선인지는 이 예시에서 판단하지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10 기준 모델 보호</a:t>
            </a:r>
          </a:p>
          <a:p xmlns:a="http://schemas.openxmlformats.org/drawingml/2006/main">
            <a:r>
              <a:t>VQA_Ensemble_Baseline.py: guard_mask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 모델 하나는 real_soft 4개, 선택적 derived_log_probability 4개, confidence/margin/entropy 3개를 제공한다. 기본으로 soft 모델당 11개다. hard-only 모델은 a/b/c/d 4개 indicator를 제공하고, 마지막에 전체 모델 vote fraction 4개를 붙인다. 따라서 soft3+hard1의 기본 입력 차원은 3×11+4+4=41이다. soft 모델의 hard indicator는 별도로 중복 추가하지 않는다. log probability는 derived feature이며 원본 logits가 아니다. hard indicator도 범주형 feature이며 실제 모델 soft로 저장하지 않는다. feature 이름과 순서를 fit_parameters에 기록하고 test와 동일하게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11 Logistic/RF 선택형 메타 모델</a:t>
            </a:r>
          </a:p>
          <a:p xmlns:a="http://schemas.openxmlformats.org/drawingml/2006/main">
            <a:r>
              <a:t>VQA_Ensemble_Baseline.py: meta_features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RF는 원 이미지를 보고 VQA를 학습하는 모델이 아니라, base 모델 출력으로 구성한 X를 입력받아 y를 예측하는 메타 분류기다. fit_state는 meta-fit의 행만 이용해 온도·가중치·estimator를 학습한다. predict_proba의 class order도 classes_를 보고 0/1/2/3으로 재정렬한다. 같은 estimator에 holdout/test feature를 입력한다. rf_meta는 바로 그 argmax, rf_guard는 anchor/RF 확률을 조건에 따라 routing한 후보다. v1은 meta-holdout까지 포함하는 재학습을 허용하지 않는다. 현재 구현은 fitted estimator 바이너리를 별도로 저장하지 않고 설정·입력 해시·학습 IDs·feature 순서를 기록하므로 다시 export하려면 같은 입력으로 fitting을 다시 실행한다.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11 메타 학습 · 12 후보 예측</a:t>
            </a:r>
          </a:p>
          <a:p xmlns:a="http://schemas.openxmlformats.org/drawingml/2006/main">
            <a:r>
              <a:t>VQA_Ensemble_Baseline.py: fit_state, build_meta_model, model_probabilities, recipe_candidates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 초기값은 trees=300, max_depth=6, min_samples_leaf=12, max_features=sqrt, n_jobs=2, random_state=seed42다. 작은 validation에서 복잡도를 제한하는 시작 설정이다. 이 설정이 과거 RF_v1의 실제 설정과 같다고 확인하지 않았다. RF를 활성화하면 fit_oof 자동선택 여부와 상관없이 need_oof가 켜져 내부 OOF를 수행한다. 자동 선택을 켜려면 policy=fit_oof와 candidates를 명시하면 된다. 후보는 실제 활성화되어 있고 모든 fold OOF가 있는 이름이어야 한다. Logistic은 선택적 비교 후보로 StandardScaler와 C=.3, max_iter=1000을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11 Logistic/RF 선택형 메타 모델 · 20 설정</a:t>
            </a:r>
          </a:p>
          <a:p xmlns:a="http://schemas.openxmlformats.org/drawingml/2006/main">
            <a:r>
              <a:t>VQA_Ensemble_Baseline.py: default_config, build_meta_model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Candidate는 prediction, probability, counts, semantics, changed를 구분한다. soft_mean/fixed/learned는 실제 확률 평균이다. hard_vote와 core/unanimous는 hard 답과 득표 수를 담고 probability를 만들지 않는다. guard는 anchor 또는 proposal 확률을 행별로 선택한다. rf_meta/logistic_meta는 새 분류기의 predict_proba이며 VLM의 raw probabilities와 출처가 다르다. core fallback에서 counts는 진단용이므로 counts argmax와 최종 답이 항상 같다고 볼 수 없다. 최종 답은 prediction과 CSV가 기준이다. probability가 존재하면 export가 argmax와 prediction 일치를 검사한다.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12 후보 실행·예측 유형</a:t>
            </a:r>
          </a:p>
          <a:p xmlns:a="http://schemas.openxmlformats.org/drawingml/2006/main">
            <a:r>
              <a:t>VQA_Ensemble_Baseline.py: Candidate, recipe_candidates, export_candidate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내부5-fold는 meta-fit 안에서만 구성하며 meta-holdout은 포함하지 않는다. 각 fold train에서 anchor와 모델 순위, 온도, soft 가중치, RF/Logistic을 다시 학습하고 제외한 fold를 예측한다. OOF를 합치면 각 meta-fit 행은 자신을 학습하지 않은 메타 state가 예측한 답을 하나 갖는다. base VLM 가중치를 fold마다 다시 학습하는 과정은 아니다. base 모델은 이 공통 validation을 원 VLM 학습에서 제외해야 한다. fold별 anchor 유형 변화 때문에 후보가 모든 fold에 없거나 probability 타입이 다르면 그 후보는 OOF 선택에서 제외하며 audit에 남긴다. fold-local anchor이므로 OOF의 기준 답은 한 고정 anchor 답과 다를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13 Meta-fit 내부 OOF</a:t>
            </a:r>
          </a:p>
          <a:p xmlns:a="http://schemas.openxmlformats.org/drawingml/2006/main">
            <a:r>
              <a:t>VQA_Ensemble_Baseline.py: build_fit_oof, grouped_folds, fit_state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fixed는 사전에 지정한 fixed_recipe를 고르고, 현재 입력으로 후보를 만들 수 없으면 fallback_recipe=anchor를 쓴다. fit_oof는 meta-fit OOF의 accuracy 우선으로 비교한다. 기본 min_fit_oof_gain_count=1은 anchor보다 net1문항 이상인 비anchor 후보만 eligible로 한다. harm 상한은 기본None이며 지정할 수 있다. 동점이면 harm가 적고 changed가 적은 후보를 고른다. 선택 결과를 analysis/selection.json에 저장한 뒤 holdout 평가를 보고한다. OOF 점수는 후보 선택에 사용했으므로 독립 최종 성적이 아니다. holdout 비교표를 보고 같은 holdout에 맞춰 여러 번 규칙을 고치면 독립성이 약해진다.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14 후보 선택·holdout 동결</a:t>
            </a:r>
          </a:p>
          <a:p xmlns:a="http://schemas.openxmlformats.org/drawingml/2006/main">
            <a:r>
              <a:t>VQA_Ensemble_Baseline.py: select_recipe, run_ensemble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설명용 평가100문항에서 anchor가90개, 새 후보가92개를 맞혔다고 하자. anchor가 틀렸던5개를 구제하고 맞았던3개를 훼손하면 net=5-3=2로 정답 수가90에서92로 늘어난다. 변경 수는8개 이상일 수 있다. 두 후보 모두 틀리지만 서로 다른 오답을 선택한 행은 changed에는 들어가고 rescue/harm에는 들어가지 않는다. 실제 comparison.csv는 정확도, correct, changed, rescue, harm, net, 확률 지표를 평가 범위별로 저장한다. 후보끼리는 동일 IDs와 동일 evaluation_role에서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08 지표 · 15 결과 비교</a:t>
            </a:r>
          </a:p>
          <a:p xmlns:a="http://schemas.openxmlformats.org/drawingml/2006/main">
            <a:r>
              <a:t>VQA_Ensemble_Baseline.py: rescue_harm, evaluation_table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write_report는 실제 실행 comparison.csv와 summary의 수치로 HTML/SVG 그래프를 만들고 검색과 정렬을 제공한다. 본 PPT의 예시 차트와 실제 run 차트를 구분한다. meta_fit_in_sample_diagnostic는 메타 학습에 쓴 부분, meta_fit_oof_selection_diagnostic는 내부 cross-fit 선택 점수, meta_holdout은 앙상블 선택에서 제외한 부분, full_validation_mixed_diagnostic는 두 범위가 섞인 진단이다. summary의 최상위 accuracy도 full mixed이므로 independent score로 말하면 안 된다. selected_holdout이 선택된 후보의 holdout 지표다. base_model_validation.csv는 common_base_model_validation 범위의 단일 모델 결과다.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16 실제 차트·실행 감사</a:t>
            </a:r>
          </a:p>
          <a:p xmlns:a="http://schemas.openxmlformats.org/drawingml/2006/main">
            <a:r>
              <a:t>VQA_Ensemble_Baseline.py: write_report, evaluation_table, run_ensemble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 모드는 먼저 complete 모델의 공통 valid를 검사하고 meta-fit state와 선택 규칙을 다시 실행한다. 같은 state로 test 후보를 만들며 valid/test 후보 구성 일치를 확인한다. sample_submission_csv의 ID 집합과 순서를 test 기준으로 사용한다. make_submission은 두 열 id,answer와 a/b/c/d 답, ID 중복, 행 수를 검사하고 저장 후 다시 읽어 확인한다. 이 프로젝트의 test는6714개라는 사용자 기록이 있지만 재사용 코드는 숫자를 하드코딩하지 않고 실제 sample 행 수에 따른다. 아래 CSV는 형식 예시로 실제 제출물과 무관하다.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17 제출 CSV·NPY 저장</a:t>
            </a:r>
          </a:p>
          <a:p xmlns:a="http://schemas.openxmlformats.org/drawingml/2006/main">
            <a:r>
              <a:t>VQA_Ensemble_Baseline.py: canonical_test, recipe_candidates, make_submission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후보는 IDs와 predictions를 저장하며 validation이면 labels도 저장한다. probability 방식이면 shape(N,4), 행합1, 유한성, argmax와 prediction 일치를 검사하고 float32 probs를 저장한다. hard 방식은 probs를 만들지 않고 vote_counts를 별도로 저장할 수 있다. 앙상블에는 공통 물리적인 token logits가 없으므로 log(mean_probs)를 raw logits처럼 만들어 저장하지 않는다. full valid 출력에는 meta-fit in-sample 부분이 포함될 수 있고 probability_metadata에 meta_in_sample_present를 남긴다. 상위 메타 앙상블 입력으로 full valid를 곧바로 쓰는 것을 loader가 거부한다. OOF와 holdout 출력의 ID 범위도 확인해야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17 제출 CSV·NPY 저장</a:t>
            </a:r>
          </a:p>
          <a:p xmlns:a="http://schemas.openxmlformats.org/drawingml/2006/main">
            <a:r>
              <a:t>VQA_Ensemble_Baseline.py: export_candidate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create_run_dir는 기존 run을 덮어쓰지 않는다. config.json/environment.json/inputs.json은 설정, 설치 환경, 입력 경로와 해시를 남긴다. meta_split.json은 fit/holdout IDs와 서명을, fit_parameters.json은 anchor/ranking/temperature/weights/feature 순서 및 fit IDs를, analysis/selection.json은 선택 근거와 config/meta split signatures를 담는다. candidates 아래의 파일은 후보 출력이며 leaderboard에 제출했다고 자동 기록하지 않는다. output prob metadata가 원본 입력과 이후 재활용 방식의 의미를 잇는다. estimator 자체 joblib/pickle을 저장하는 기능은 이 v1에서 구현하지 않았으므로 원본 예측과 환경을 유지해 재실행한다.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16 실행 감사 · 17 저장</a:t>
            </a:r>
          </a:p>
          <a:p xmlns:a="http://schemas.openxmlformats.org/drawingml/2006/main">
            <a:r>
              <a:t>VQA_Ensemble_Baseline.py: state_summary, run_ensemble, create_run_dir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validation이 없는 모델은 role=test_only로 등록하고 test_only_recipes에 고정 결합 규칙을 명시한다. soft_mean이면 모든 구성 모델에 actual test_probs가 있어야 하고 hard_vote면 답 투표를 할 수 있다. complete 모델의 메타 학습과 자동 선택에서는 제외하고 test_only/&lt;recipe&gt;/submission_TESTONLY_&lt;name&gt;.csv로 저장한다. 별도 validation 점수는 없다. 과거 qwen_og는 test soft만 확인되었다는 복구 기록이 있으므로 그 상태를 complete로 간주하지 않는다. 원본에 공통 valid 출력이 발견되면 실제 확인 후 role을 변경한다. 전체가 test_only인 작업은 이 베이스에 complete 모델이 최소1개 필요하므로 실행 대상이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18 Test-only 선택 분기</a:t>
            </a:r>
          </a:p>
          <a:p xmlns:a="http://schemas.openxmlformats.org/drawingml/2006/main">
            <a:r>
              <a:t>VQA_Ensemble_Baseline.py: run_test_only_recipes, load_model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review_queue는 complete 모델 간 의견 불일치 또는 anchor에서 최종 답이 바뀐 test 문항을 모은다. ground_truth는 unknown이며 queue만으로 정답을 확정할 수 없다. 실제 질문·보기·이미지는 upstream ID로 연결해 사람이 함께 확인한다. 수정 CSV는 id,before,after,reason을 갖고 중복ID, test외ID, before 불일치, 같은 답으로의 변경, 빈 근거를 검사한다. 원 selected CSV를 유지하며 별도 submission_MANUAL_reviewed.csv와 manual_changes_applied/summary를 만든다. 모델 soft 확률은 수동 답 변경에 맞춰 변조하지 않는다. 수동 CSV와 원 probability argmax가 다를 수 있으므로 별도 산출물임을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18 수동 검토 선택 분기</a:t>
            </a:r>
          </a:p>
          <a:p xmlns:a="http://schemas.openxmlformats.org/drawingml/2006/main">
            <a:r>
              <a:t>VQA_Ensemble_Baseline.py: review_queue, manual_changes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노트북20번 셀의 RUN_MODE가 기본 inspect다. inspect는 입력과 공통 validation/test를 검사하고 catalog를 기록하며 앙상블 fitting·CSV 생성을 하지 않는다. evaluate는 valid만으로 meta 분할·학습·OOF·선택·평가를 실행한다. export는 같은 처리와 test 결합·CSV 저장을 수행한다. 각 모드는 새 run을 만들며 기존 run을 덮어쓰지 않는다. evaluate에서 만든 estimator를 export에 직렬화해 이어 쓰는 구조가 아니라 같은 설정/seed/입력으로 fitting을 재실행한다. 고정 manifest_path를 사용하면 meta 분할 ID도 재사용할 수 있다. self_check는 CPU 합성 fixture의 코드 검사이며 실제 대회 성적을 확인하지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19 실행기 · 20 실행 설정</a:t>
            </a:r>
          </a:p>
          <a:p xmlns:a="http://schemas.openxmlformats.org/drawingml/2006/main">
            <a:r>
              <a:t>VQA_Ensemble_Baseline.py: run_ensemble, self_check,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기록상 기존 RF_v1을 기준으로 수동 검토18문항을 거쳐 A에서15개 답을 수정했다. A 파일은 submission_guard_A_RF_repaired15.csv다. B submission_guard_B_core3_plus_RF21.csv는 별도 예비안으로 성적이 좋지 않았으며 정확한 수치는 제공되지 않았다. A 이후 submission_postA_consensus8of9_nonmanual4.csv는 추가4개 답을 바꿔 A보다 낮은 성적을 냈다. 새 노트북의 rf_meta/rf_guard는 이 과거 코드·18문항 검토·15수정 규칙을 그대로 복제한 것이 아니다. 원 RF 학습 입력, 모델 조합, hyperparameter, 변경 IDs와 audit를 직접 대조하지 않았으므로 정확한 재현은 미확인이다.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사용자 제공 프로젝트 설명 및 기존 모델편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수치는 사용자 제공 성적 기록이다. A submission_guard_A_RF_repaired15.csv는 Public=.98182,Private=.98302. B의 정확한 점수는 제공되지 않아 미확인으로 남긴다. A 이후 추가4수정 submission_postA_consensus8of9_nonmanual4.csv는 Public=.98153,Private=.98272로 둘 다 A보다 낮다. A를 알려진 제출 중 최고라고 말할 수 있지만 모든 가능한 앙상블의 최적해라고 할 수는 없다. Public과 Private는 test의 서로 다른 숨겨진 subset의 집계다. aggregate 차이만으로 특정 수정 문항의 정답을 확정할 수 없다. Private 결과를 반복 사용해 예외와 규칙을 바꾸면 Private에도 과적합할 수 있다. 새 베이스로 이 점수를 재현하거나 개선했다고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사용자 제공 프로젝트 설명 및 기존 모델편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환경,02 공통 함수,03 설정,04 ID/label/class,05 모델 load,06 공통 alignment,07 이미지 group meta split,08 metrics,09 temperature/weights,10 voting/core/guard,11 RF/Logistic,12 candidates,13 OOF,14 selection,15 compare/review,16 charts/audit,17 output,18 test-only/manual,19 runner/self-check,20 user setup를 연결한 학습 지도다. companion Code_Guide는 슬라이드별 상세 해설과 정확한 함수 위치·핵심 코드 및 실행 옵션을 함께 제공한다. 실제 대회 파일을 입력한 새 베이스의 Public/Private 성적과 과거 RF_v1 원본 설정은 미확인이다. 설명용 차트/숫자는 실제 결과로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코드·자료 근거</a:t>
            </a:r>
          </a:p>
          <a:p xmlns:a="http://schemas.openxmlformats.org/drawingml/2006/main">
            <a:r>
              <a:t>VQA_Ensemble_Baseline_v1.ipynb의 20단계 학습 지도</a:t>
            </a:r>
          </a:p>
          <a:p xmlns:a="http://schemas.openxmlformats.org/drawingml/2006/main">
            <a:r>
              <a:t>VQA_Ensemble_Baseline.py: run_ensemble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5cd5e8a7a4c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3a8501f3040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d19b0717846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87e3b80ed43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dc6b1c35a48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f27034b1f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995767-A8F1-4A1F-BB2A-528FC84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AF7C7C-F3C8-4622-9AAD-5FC5783A8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57E8622-FA0D-47F1-94CC-94B99EECC4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E3D2143-4AC7-4FC9-B08D-9D57CBF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213FC9-1C5F-430D-9073-B160769E9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E0292B-0928-4665-85B2-7079338B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9FA2C5-8EFD-4D9B-94B9-F2E6B7AC14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F83240E-2D6A-4D0E-9E3D-1144555EA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B3F3F8-8CCE-4E66-97F4-F61611D9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571D0D-F72D-4B06-A18A-88BA352D5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86F45D-8153-4CD4-A166-1DA6A5149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C4EFA3-A3A6-439F-A5D8-BB40C2C4CD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62CA4B-3A65-41E9-B320-D4982C82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685DC9-D9DF-4680-829A-BF63B8CCD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E97753-17CF-4967-8492-EC351A7EC5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57a831fc040d5" /><Relationship Type="http://schemas.openxmlformats.org/officeDocument/2006/relationships/slideLayout" Target="/ppt/slideLayouts/slideLayout1.xml" Id="R423f45cd301247b1" /><Relationship Type="http://schemas.openxmlformats.org/officeDocument/2006/relationships/slideLayout" Target="/ppt/slideLayouts/slideLayout2.xml" Id="R3327be07400b4d91" /><Relationship Type="http://schemas.openxmlformats.org/officeDocument/2006/relationships/slideLayout" Target="/ppt/slideLayouts/slideLayout3.xml" Id="Rc60a140a11b54329" /><Relationship Type="http://schemas.openxmlformats.org/officeDocument/2006/relationships/slideLayout" Target="/ppt/slideLayouts/slideLayout4.xml" Id="Rcc0aecfea8d4458e" /><Relationship Type="http://schemas.openxmlformats.org/officeDocument/2006/relationships/slideLayout" Target="/ppt/slideLayouts/slideLayout5.xml" Id="Rb6dfaec010fc4d29" /><Relationship Type="http://schemas.openxmlformats.org/officeDocument/2006/relationships/slideLayout" Target="/ppt/slideLayouts/slideLayout6.xml" Id="Rab6a2315f716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f45cd301247b1"/>
    <p:sldLayoutId xmlns:r="http://schemas.openxmlformats.org/officeDocument/2006/relationships" id="2147483650" r:id="R3327be07400b4d91"/>
    <p:sldLayoutId xmlns:r="http://schemas.openxmlformats.org/officeDocument/2006/relationships" id="2147483651" r:id="Rc60a140a11b54329"/>
    <p:sldLayoutId xmlns:r="http://schemas.openxmlformats.org/officeDocument/2006/relationships" id="2147483652" r:id="Rcc0aecfea8d4458e"/>
    <p:sldLayoutId xmlns:r="http://schemas.openxmlformats.org/officeDocument/2006/relationships" id="2147483653" r:id="Rb6dfaec010fc4d29"/>
    <p:sldLayoutId xmlns:r="http://schemas.openxmlformats.org/officeDocument/2006/relationships" id="2147483654" r:id="Rab6a2315f716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d3a2f2e6d4337" /><Relationship Type="http://schemas.openxmlformats.org/officeDocument/2006/relationships/notesSlide" Target="/ppt/notesSlides/notesSlide1.xml" Id="R94e60c946b5041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6c1a6511841c6" /><Relationship Type="http://schemas.openxmlformats.org/officeDocument/2006/relationships/notesSlide" Target="/ppt/notesSlides/notesSlide2.xml" Id="R48cdee797a254f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5501685034399" /><Relationship Type="http://schemas.openxmlformats.org/officeDocument/2006/relationships/notesSlide" Target="/ppt/notesSlides/notesSlide3.xml" Id="R0acf945ca9fc41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11d690c40463e" /><Relationship Type="http://schemas.openxmlformats.org/officeDocument/2006/relationships/notesSlide" Target="/ppt/notesSlides/notesSlide4.xml" Id="R2ce2827e97b54b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98c98812b4699" /><Relationship Type="http://schemas.openxmlformats.org/officeDocument/2006/relationships/notesSlide" Target="/ppt/notesSlides/notesSlide5.xml" Id="Rb64bd7b08214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de112dbbf48f2" /><Relationship Type="http://schemas.openxmlformats.org/officeDocument/2006/relationships/notesSlide" Target="/ppt/notesSlides/notesSlide6.xml" Id="R34820b01435a4e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01b8ec1804507" /><Relationship Type="http://schemas.openxmlformats.org/officeDocument/2006/relationships/notesSlide" Target="/ppt/notesSlides/notesSlide7.xml" Id="R3c307334668d4f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99d63d6f44f78" /><Relationship Type="http://schemas.openxmlformats.org/officeDocument/2006/relationships/notesSlide" Target="/ppt/notesSlides/notesSlide8.xml" Id="R66542d321312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617e0d3ec4582" /><Relationship Type="http://schemas.openxmlformats.org/officeDocument/2006/relationships/notesSlide" Target="/ppt/notesSlides/notesSlide9.xml" Id="R999b38f4f0e6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98cb49f3e41f2" /><Relationship Type="http://schemas.openxmlformats.org/officeDocument/2006/relationships/notesSlide" Target="/ppt/notesSlides/notesSlide10.xml" Id="R5378cb6cb15d4b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4deaa2dc7418d" /><Relationship Type="http://schemas.openxmlformats.org/officeDocument/2006/relationships/notesSlide" Target="/ppt/notesSlides/notesSlide11.xml" Id="R60f4781bccec4b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545df54224a4f" /><Relationship Type="http://schemas.openxmlformats.org/officeDocument/2006/relationships/notesSlide" Target="/ppt/notesSlides/notesSlide12.xml" Id="Rd2f7bb3e8de049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2d25aed6c469b" /><Relationship Type="http://schemas.openxmlformats.org/officeDocument/2006/relationships/notesSlide" Target="/ppt/notesSlides/notesSlide13.xml" Id="R125bdfb7850e4f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49705e4714513" /><Relationship Type="http://schemas.openxmlformats.org/officeDocument/2006/relationships/chart" Target="/ppt/slides/charts/chart1.xml" Id="Rf35a57800bbb41b0" /><Relationship Type="http://schemas.openxmlformats.org/officeDocument/2006/relationships/notesSlide" Target="/ppt/notesSlides/notesSlide14.xml" Id="Rfd85a1099ae042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176f8c1954987" /><Relationship Type="http://schemas.openxmlformats.org/officeDocument/2006/relationships/notesSlide" Target="/ppt/notesSlides/notesSlide15.xml" Id="R7d5505c502974f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f663b35934b3b" /><Relationship Type="http://schemas.openxmlformats.org/officeDocument/2006/relationships/notesSlide" Target="/ppt/notesSlides/notesSlide16.xml" Id="R2388c779cd0740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8c99821494f68" /><Relationship Type="http://schemas.openxmlformats.org/officeDocument/2006/relationships/notesSlide" Target="/ppt/notesSlides/notesSlide17.xml" Id="R2c5184a5b5af46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7f39d00f64b98" /><Relationship Type="http://schemas.openxmlformats.org/officeDocument/2006/relationships/notesSlide" Target="/ppt/notesSlides/notesSlide18.xml" Id="R46576b531a1348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86f4661e84183" /><Relationship Type="http://schemas.openxmlformats.org/officeDocument/2006/relationships/notesSlide" Target="/ppt/notesSlides/notesSlide19.xml" Id="R591fb71c4caa45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e2ccc2ae44377" /><Relationship Type="http://schemas.openxmlformats.org/officeDocument/2006/relationships/notesSlide" Target="/ppt/notesSlides/notesSlide20.xml" Id="R389ebe0cafac45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15c65e57a46b0" /><Relationship Type="http://schemas.openxmlformats.org/officeDocument/2006/relationships/notesSlide" Target="/ppt/notesSlides/notesSlide21.xml" Id="R4bc2db04e8fb44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20a26a7904f84" /><Relationship Type="http://schemas.openxmlformats.org/officeDocument/2006/relationships/notesSlide" Target="/ppt/notesSlides/notesSlide22.xml" Id="R5bf46b6f3c4f4a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06465c73747a8" /><Relationship Type="http://schemas.openxmlformats.org/officeDocument/2006/relationships/notesSlide" Target="/ppt/notesSlides/notesSlide23.xml" Id="Re9f51051339748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6641df2204866" /><Relationship Type="http://schemas.openxmlformats.org/officeDocument/2006/relationships/notesSlide" Target="/ppt/notesSlides/notesSlide24.xml" Id="Rd240fccaca4244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2235a8e354605" /><Relationship Type="http://schemas.openxmlformats.org/officeDocument/2006/relationships/notesSlide" Target="/ppt/notesSlides/notesSlide25.xml" Id="R6f879661272c47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0b4fcbd2d489d" /><Relationship Type="http://schemas.openxmlformats.org/officeDocument/2006/relationships/chart" Target="/ppt/slides/charts/chart2.xml" Id="R583fd16c59f34d07" /><Relationship Type="http://schemas.openxmlformats.org/officeDocument/2006/relationships/notesSlide" Target="/ppt/notesSlides/notesSlide26.xml" Id="R373ff04136b840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b7adf7a3a4d32" /><Relationship Type="http://schemas.openxmlformats.org/officeDocument/2006/relationships/notesSlide" Target="/ppt/notesSlides/notesSlide27.xml" Id="R79639e1fdfb24f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31bf848b74587" /><Relationship Type="http://schemas.openxmlformats.org/officeDocument/2006/relationships/notesSlide" Target="/ppt/notesSlides/notesSlide28.xml" Id="R074eafdada6745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97cb228214103" /><Relationship Type="http://schemas.openxmlformats.org/officeDocument/2006/relationships/notesSlide" Target="/ppt/notesSlides/notesSlide29.xml" Id="R3c61dc6ce22145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13e21e8c04ddb" /><Relationship Type="http://schemas.openxmlformats.org/officeDocument/2006/relationships/notesSlide" Target="/ppt/notesSlides/notesSlide30.xml" Id="R0846739f4a2a42a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1ff87e582450b" /><Relationship Type="http://schemas.openxmlformats.org/officeDocument/2006/relationships/notesSlide" Target="/ppt/notesSlides/notesSlide31.xml" Id="Rf2b0ad5b4b3c4ac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a63ecf51c44df" /><Relationship Type="http://schemas.openxmlformats.org/officeDocument/2006/relationships/notesSlide" Target="/ppt/notesSlides/notesSlide32.xml" Id="R2a3f00fd19f245a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b990175f14254" /><Relationship Type="http://schemas.openxmlformats.org/officeDocument/2006/relationships/notesSlide" Target="/ppt/notesSlides/notesSlide33.xml" Id="R1c143350c9df423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b188f5de94cd7" /><Relationship Type="http://schemas.openxmlformats.org/officeDocument/2006/relationships/notesSlide" Target="/ppt/notesSlides/notesSlide34.xml" Id="R344ce24b812542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cd87b4a294960" /><Relationship Type="http://schemas.openxmlformats.org/officeDocument/2006/relationships/notesSlide" Target="/ppt/notesSlides/notesSlide35.xml" Id="R9f2079f68356495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b7146b8b9407f" /><Relationship Type="http://schemas.openxmlformats.org/officeDocument/2006/relationships/notesSlide" Target="/ppt/notesSlides/notesSlide36.xml" Id="R9b42ac83f3ed46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균등 평균</c:v>
          </c:tx>
          <c:spPr>
            <a:solidFill xmlns:a="http://schemas.openxmlformats.org/drawingml/2006/main">
              <a:srgbClr val="2454C4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26.7%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63.3%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</c:dLbls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0.2667</c:v>
                </c:pt>
                <c:pt idx="1">
                  <c:v>0.6333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</c:ser>
        <c:ser>
          <c:idx val="1"/>
          <c:order val="1"/>
          <c:tx>
            <c:v>2:1:1 가중 평균</c:v>
          </c:tx>
          <c:spPr>
            <a:solidFill xmlns:a="http://schemas.openxmlformats.org/drawingml/2006/main">
              <a:srgbClr val="087D7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32.5%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57.5%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</c:dLbls>
          <c:cat>
            <c:strRef>
              <c:f>'Chart Data'!$C$2:$C$5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0.325</c:v>
                </c:pt>
                <c:pt idx="1">
                  <c:v>0.575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32B3B"/>
                  </a:solidFill>
                  <a:latin typeface="Noto Sans CJK KR"/>
                  <a:ea typeface="Noto Sans CJK KR"/>
                  <a:cs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7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32B3B"/>
              </a:solidFill>
              <a:latin typeface="Noto Sans CJK KR"/>
              <a:ea typeface="Noto Sans CJK KR"/>
              <a:cs typeface="Noto Sans CJK KR"/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설명용 정답률</c:v>
          </c:tx>
          <c:spPr>
            <a:solidFill xmlns:a="http://schemas.openxmlformats.org/drawingml/2006/main">
              <a:srgbClr val="2454C4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90 / 100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solidFill>
                          <a:srgbClr val="132B3B"/>
                        </a:solidFill>
                        <a:latin typeface="Noto Sans CJK KR"/>
                        <a:ea typeface="Noto Sans CJK KR"/>
                        <a:cs typeface="Noto Sans CJK KR"/>
                      </a:rPr>
                      <a:t>92 / 100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solidFill>
                        <a:srgbClr val="132B3B"/>
                      </a:solidFill>
                      <a:latin typeface="Noto Sans CJK KR"/>
                      <a:ea typeface="Noto Sans CJK KR"/>
                      <a:cs typeface="Noto Sans CJK KR"/>
                    </a:defRPr>
                  </a:pPr>
                </a:p>
              </c:txPr>
              <c:dLblPos val="outEnd"/>
            </c:dLbl>
          </c:dLbls>
          <c:cat>
            <c:strRef>
              <c:f>'Chart Data'!$A$2:$A$3</c:f>
              <c:strCache>
                <c:ptCount val="2"/>
                <c:pt idx="0">
                  <c:v>anchor</c:v>
                </c:pt>
                <c:pt idx="1">
                  <c:v>새 후보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0.9</c:v>
                </c:pt>
                <c:pt idx="1">
                  <c:v>0.92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32B3B"/>
                  </a:solidFill>
                  <a:latin typeface="Noto Sans CJK KR"/>
                  <a:ea typeface="Noto Sans CJK KR"/>
                  <a:cs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_1">
            <a:extLst xmlns:a="http://schemas.openxmlformats.org/drawingml/2006/main">
              <a:ext uri="{FF2B5EF4-FFF2-40B4-BE49-F238E27FC236}">
                <a16:creationId xmlns:a16="http://schemas.microsoft.com/office/drawing/2014/main" id="{85CF3109-702E-4072-B5A9-3953EA9A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810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VQA 앙상블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파이프라인</a:t>
            </a:r>
          </a:p>
        </p:txBody>
      </p:sp>
      <p:sp>
        <p:nvSpPr>
          <p:cNvPr id="2" name="text_2">
            <a:extLst xmlns:a="http://schemas.openxmlformats.org/drawingml/2006/main">
              <a:ext uri="{FF2B5EF4-FFF2-40B4-BE49-F238E27FC236}">
                <a16:creationId xmlns:a16="http://schemas.microsoft.com/office/drawing/2014/main" id="{883660BF-19AC-4DAA-B0A4-A9DC1276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4E3E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4E3ED"/>
                </a:solidFill>
                <a:latin typeface="Noto Sans CJK KR"/>
                <a:ea typeface="Noto Sans CJK KR"/>
                <a:cs typeface="Noto Sans CJK KR"/>
              </a:rPr>
              <a:t>저장된 hard CSV와 soft NPY부터 최종 제출까지</a:t>
            </a:r>
          </a:p>
        </p:txBody>
      </p:sp>
      <p:sp>
        <p:nvSpPr>
          <p:cNvPr id="3" name="text_3">
            <a:extLst xmlns:a="http://schemas.openxmlformats.org/drawingml/2006/main">
              <a:ext uri="{FF2B5EF4-FFF2-40B4-BE49-F238E27FC236}">
                <a16:creationId xmlns:a16="http://schemas.microsoft.com/office/drawing/2014/main" id="{DE5630C0-3BDB-466B-AA18-4D978CC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B5D1E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B5D1E5"/>
                </a:solidFill>
                <a:latin typeface="Noto Sans CJK KR"/>
                <a:ea typeface="Noto Sans CJK KR"/>
                <a:cs typeface="Noto Sans CJK KR"/>
              </a:rPr>
              <a:t>20단계 해설  ·  숫자 예시  ·  Random Forest와 OOF</a:t>
            </a:r>
          </a:p>
        </p:txBody>
      </p:sp>
      <p:sp>
        <p:nvSpPr>
          <p:cNvPr id="4" name="text_4">
            <a:extLst xmlns:a="http://schemas.openxmlformats.org/drawingml/2006/main">
              <a:ext uri="{FF2B5EF4-FFF2-40B4-BE49-F238E27FC236}">
                <a16:creationId xmlns:a16="http://schemas.microsoft.com/office/drawing/2014/main" id="{EABDEE09-1F3B-4F99-A5EA-9A9AD16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1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3B0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93B0C2"/>
                </a:solidFill>
                <a:latin typeface="Noto Sans CJK KR"/>
                <a:ea typeface="Noto Sans CJK KR"/>
                <a:cs typeface="Noto Sans CJK KR"/>
              </a:rPr>
              <a:t>SSAFY AI Challenge 2를 바탕으로 만든 재사용 베이스</a:t>
            </a:r>
          </a:p>
        </p:txBody>
      </p:sp>
    </p:spTree>
    <p:extLst>
      <p:ext uri="{BB962C8B-B14F-4D97-AF65-F5344CB8AC3E}">
        <p14:creationId xmlns:p14="http://schemas.microsoft.com/office/powerpoint/2010/main" val="1275202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5">
            <a:extLst xmlns:a="http://schemas.openxmlformats.org/drawingml/2006/main">
              <a:ext uri="{FF2B5EF4-FFF2-40B4-BE49-F238E27FC236}">
                <a16:creationId xmlns:a16="http://schemas.microsoft.com/office/drawing/2014/main" id="{5DEBDB6B-C395-4340-B1A7-473E79F7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모델 추론과 앙상블의 연결</a:t>
            </a:r>
          </a:p>
        </p:txBody>
      </p:sp>
      <p:sp>
        <p:nvSpPr>
          <p:cNvPr id="2" name="text_6">
            <a:extLst xmlns:a="http://schemas.openxmlformats.org/drawingml/2006/main">
              <a:ext uri="{FF2B5EF4-FFF2-40B4-BE49-F238E27FC236}">
                <a16:creationId xmlns:a16="http://schemas.microsoft.com/office/drawing/2014/main" id="{92E499A3-A84D-4353-8AB1-5FF12E9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단일 모델의 최종 예측을 파일로 전달한다</a:t>
            </a:r>
          </a:p>
        </p:txBody>
      </p:sp>
      <p:sp>
        <p:nvSpPr>
          <p:cNvPr id="3" name="text_7">
            <a:extLst xmlns:a="http://schemas.openxmlformats.org/drawingml/2006/main">
              <a:ext uri="{FF2B5EF4-FFF2-40B4-BE49-F238E27FC236}">
                <a16:creationId xmlns:a16="http://schemas.microsoft.com/office/drawing/2014/main" id="{FFEF0CD9-F6E8-4741-A082-9BCEFE6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개요</a:t>
            </a:r>
          </a:p>
        </p:txBody>
      </p:sp>
      <p:sp>
        <p:nvSpPr>
          <p:cNvPr id="4" name="text_8">
            <a:extLst xmlns:a="http://schemas.openxmlformats.org/drawingml/2006/main">
              <a:ext uri="{FF2B5EF4-FFF2-40B4-BE49-F238E27FC236}">
                <a16:creationId xmlns:a16="http://schemas.microsoft.com/office/drawing/2014/main" id="{8EA53E67-760F-4008-AADE-AE456F2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91025"/>
                <a:gridCol w="4391025"/>
              </a:tblGrid>
              <a:tr h="66103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앙상블편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이미지·질문·보기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모델별 CSV·NPY·ID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VLM의 LoRA 등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선택적 RF·Logistic 메타 학습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TTA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 모델의 여러 입력을 평균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이미 평균한 확률도 그대로 연결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출력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단일 모델 답·확률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결합한 답·확률·감사 기록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9">
            <a:extLst xmlns:a="http://schemas.openxmlformats.org/drawingml/2006/main">
              <a:ext uri="{FF2B5EF4-FFF2-40B4-BE49-F238E27FC236}">
                <a16:creationId xmlns:a16="http://schemas.microsoft.com/office/drawing/2014/main" id="{94F0B964-FA77-4EE9-9FD6-13843181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이 PPT의 시작점은 완료된 모델 run 폴더다</a:t>
            </a:r>
          </a:p>
        </p:txBody>
      </p:sp>
    </p:spTree>
    <p:extLst>
      <p:ext uri="{BB962C8B-B14F-4D97-AF65-F5344CB8AC3E}">
        <p14:creationId xmlns:p14="http://schemas.microsoft.com/office/powerpoint/2010/main" val="1237166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643813" y="5038725"/>
            <a:ext cx="19859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87D73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562850" y="3086100"/>
            <a:ext cx="2066925" cy="2352675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15100" y="3567113"/>
            <a:ext cx="1162050" cy="995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15100" y="2609850"/>
            <a:ext cx="1162050" cy="957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00350" y="3567113"/>
            <a:ext cx="904875" cy="947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0350" y="2571750"/>
            <a:ext cx="904875" cy="995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sp>
        <p:nvSpPr>
          <p:cNvPr id="23" name="text_10">
            <a:extLst xmlns:a="http://schemas.openxmlformats.org/drawingml/2006/main">
              <a:ext uri="{FF2B5EF4-FFF2-40B4-BE49-F238E27FC236}">
                <a16:creationId xmlns:a16="http://schemas.microsoft.com/office/drawing/2014/main" id="{EBD12FFF-832E-4349-9EC5-E584D6E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앙상블 전체 흐름</a:t>
            </a:r>
          </a:p>
        </p:txBody>
      </p:sp>
      <p:sp>
        <p:nvSpPr>
          <p:cNvPr id="2" name="text_11">
            <a:extLst xmlns:a="http://schemas.openxmlformats.org/drawingml/2006/main">
              <a:ext uri="{FF2B5EF4-FFF2-40B4-BE49-F238E27FC236}">
                <a16:creationId xmlns:a16="http://schemas.microsoft.com/office/drawing/2014/main" id="{6BFA84DA-1DF7-433A-82CD-13F5743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입력 검증 뒤에 고정 규칙과 학습형 후보를 비교한다</a:t>
            </a:r>
          </a:p>
        </p:txBody>
      </p:sp>
      <p:sp>
        <p:nvSpPr>
          <p:cNvPr id="3" name="text_12">
            <a:extLst xmlns:a="http://schemas.openxmlformats.org/drawingml/2006/main">
              <a:ext uri="{FF2B5EF4-FFF2-40B4-BE49-F238E27FC236}">
                <a16:creationId xmlns:a16="http://schemas.microsoft.com/office/drawing/2014/main" id="{17976E22-B526-4E76-84E1-70C0CA9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전체 구조</a:t>
            </a:r>
          </a:p>
        </p:txBody>
      </p:sp>
      <p:sp>
        <p:nvSpPr>
          <p:cNvPr id="4" name="text_13">
            <a:extLst xmlns:a="http://schemas.openxmlformats.org/drawingml/2006/main">
              <a:ext uri="{FF2B5EF4-FFF2-40B4-BE49-F238E27FC236}">
                <a16:creationId xmlns:a16="http://schemas.microsoft.com/office/drawing/2014/main" id="{0CF6B474-AB1D-4A65-96E6-23A0E92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5" name="rect_14">
            <a:extLst xmlns:a="http://schemas.openxmlformats.org/drawingml/2006/main">
              <a:ext uri="{FF2B5EF4-FFF2-40B4-BE49-F238E27FC236}">
                <a16:creationId xmlns:a16="http://schemas.microsoft.com/office/drawing/2014/main" id="{4D43928F-AE12-4485-A35B-5FB533C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실제 soft NPY</a:t>
            </a:r>
          </a:p>
        </p:txBody>
      </p:sp>
      <p:sp>
        <p:nvSpPr>
          <p:cNvPr id="6" name="rect_15">
            <a:extLst xmlns:a="http://schemas.openxmlformats.org/drawingml/2006/main">
              <a:ext uri="{FF2B5EF4-FFF2-40B4-BE49-F238E27FC236}">
                <a16:creationId xmlns:a16="http://schemas.microsoft.com/office/drawing/2014/main" id="{88FA7C8D-9854-4760-8CE0-AB54B17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hard CSV</a:t>
            </a:r>
          </a:p>
        </p:txBody>
      </p:sp>
      <p:sp>
        <p:nvSpPr>
          <p:cNvPr id="7" name="rect_16">
            <a:extLst xmlns:a="http://schemas.openxmlformats.org/drawingml/2006/main">
              <a:ext uri="{FF2B5EF4-FFF2-40B4-BE49-F238E27FC236}">
                <a16:creationId xmlns:a16="http://schemas.microsoft.com/office/drawing/2014/main" id="{AA0EB4A8-9AE9-46AE-AC6F-1AA7277A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48000"/>
            <a:ext cx="28098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ID·클래스 검증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공통 validation 분할</a:t>
            </a:r>
          </a:p>
        </p:txBody>
      </p:sp>
      <p:sp>
        <p:nvSpPr>
          <p:cNvPr id="8" name="rect_17">
            <a:extLst xmlns:a="http://schemas.openxmlformats.org/drawingml/2006/main">
              <a:ext uri="{FF2B5EF4-FFF2-40B4-BE49-F238E27FC236}">
                <a16:creationId xmlns:a16="http://schemas.microsoft.com/office/drawing/2014/main" id="{C537EC36-9C16-4255-8FC6-88B9F33E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390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평균·투표·core·guard</a:t>
            </a:r>
          </a:p>
        </p:txBody>
      </p:sp>
      <p:sp>
        <p:nvSpPr>
          <p:cNvPr id="9" name="rect_18">
            <a:extLst xmlns:a="http://schemas.openxmlformats.org/drawingml/2006/main">
              <a:ext uri="{FF2B5EF4-FFF2-40B4-BE49-F238E27FC236}">
                <a16:creationId xmlns:a16="http://schemas.microsoft.com/office/drawing/2014/main" id="{7B33AD61-1394-4D2B-A1B0-1CB1481C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86225"/>
            <a:ext cx="390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온도·가중치·RF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meta-fit에서 학습</a:t>
            </a:r>
          </a:p>
        </p:txBody>
      </p:sp>
      <p:sp>
        <p:nvSpPr>
          <p:cNvPr id="10" name="rect_19">
            <a:extLst xmlns:a="http://schemas.openxmlformats.org/drawingml/2006/main">
              <a:ext uri="{FF2B5EF4-FFF2-40B4-BE49-F238E27FC236}">
                <a16:creationId xmlns:a16="http://schemas.microsoft.com/office/drawing/2014/main" id="{F60B6096-A611-4C46-9437-AF15DEFE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38775"/>
            <a:ext cx="787717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규칙 선택  /  holdout 평가  /  test 저장</a:t>
            </a:r>
          </a:p>
        </p:txBody>
      </p:sp>
    </p:spTree>
    <p:extLst>
      <p:ext uri="{BB962C8B-B14F-4D97-AF65-F5344CB8AC3E}">
        <p14:creationId xmlns:p14="http://schemas.microsoft.com/office/powerpoint/2010/main" val="198497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20">
            <a:extLst xmlns:a="http://schemas.openxmlformats.org/drawingml/2006/main">
              <a:ext uri="{FF2B5EF4-FFF2-40B4-BE49-F238E27FC236}">
                <a16:creationId xmlns:a16="http://schemas.microsoft.com/office/drawing/2014/main" id="{18C1AEFC-CC98-4E09-9CA9-E2954D6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환경과 라이브러리</a:t>
            </a:r>
          </a:p>
        </p:txBody>
      </p:sp>
      <p:sp>
        <p:nvSpPr>
          <p:cNvPr id="2" name="text_21">
            <a:extLst xmlns:a="http://schemas.openxmlformats.org/drawingml/2006/main">
              <a:ext uri="{FF2B5EF4-FFF2-40B4-BE49-F238E27FC236}">
                <a16:creationId xmlns:a16="http://schemas.microsoft.com/office/drawing/2014/main" id="{A5D3F2EC-15B0-40E7-92DE-13AAF5F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저장된 예측을 결합하므로 CPU에서 실행할 수 있다</a:t>
            </a:r>
          </a:p>
        </p:txBody>
      </p:sp>
      <p:sp>
        <p:nvSpPr>
          <p:cNvPr id="3" name="text_22">
            <a:extLst xmlns:a="http://schemas.openxmlformats.org/drawingml/2006/main">
              <a:ext uri="{FF2B5EF4-FFF2-40B4-BE49-F238E27FC236}">
                <a16:creationId xmlns:a16="http://schemas.microsoft.com/office/drawing/2014/main" id="{B362C78A-883B-44BF-A107-87BDC8F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01 환경 준비</a:t>
            </a:r>
          </a:p>
        </p:txBody>
      </p:sp>
      <p:sp>
        <p:nvSpPr>
          <p:cNvPr id="4" name="text_23">
            <a:extLst xmlns:a="http://schemas.openxmlformats.org/drawingml/2006/main">
              <a:ext uri="{FF2B5EF4-FFF2-40B4-BE49-F238E27FC236}">
                <a16:creationId xmlns:a16="http://schemas.microsoft.com/office/drawing/2014/main" id="{D92FA9FA-CD97-4835-BB8D-0582948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353050"/>
              </a:tblGrid>
              <a:tr h="6515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라이브러리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노트북의 검증 버전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역할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NumPy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2.3.5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NPY·배열·확률 계산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pandas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2.2.3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CSV·ID·비교표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SciPy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1.17.0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온도·soft 가중치 최적화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scikit-learn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1.8.0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그룹 분할·RF·Logistic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24">
            <a:extLst xmlns:a="http://schemas.openxmlformats.org/drawingml/2006/main">
              <a:ext uri="{FF2B5EF4-FFF2-40B4-BE49-F238E27FC236}">
                <a16:creationId xmlns:a16="http://schemas.microsoft.com/office/drawing/2014/main" id="{524F345F-ECD3-4FA0-940A-F47DCBE3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설치 기본값 off  /  실행 환경은 environment.json에 기록</a:t>
            </a:r>
          </a:p>
        </p:txBody>
      </p:sp>
    </p:spTree>
    <p:extLst>
      <p:ext uri="{BB962C8B-B14F-4D97-AF65-F5344CB8AC3E}">
        <p14:creationId xmlns:p14="http://schemas.microsoft.com/office/powerpoint/2010/main" val="428448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25">
            <a:extLst xmlns:a="http://schemas.openxmlformats.org/drawingml/2006/main">
              <a:ext uri="{FF2B5EF4-FFF2-40B4-BE49-F238E27FC236}">
                <a16:creationId xmlns:a16="http://schemas.microsoft.com/office/drawing/2014/main" id="{35C94791-DA01-4185-B5F7-9E80967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파일과 프로젝트 설정</a:t>
            </a:r>
          </a:p>
        </p:txBody>
      </p:sp>
      <p:sp>
        <p:nvSpPr>
          <p:cNvPr id="2" name="text_26">
            <a:extLst xmlns:a="http://schemas.openxmlformats.org/drawingml/2006/main">
              <a:ext uri="{FF2B5EF4-FFF2-40B4-BE49-F238E27FC236}">
                <a16:creationId xmlns:a16="http://schemas.microsoft.com/office/drawing/2014/main" id="{109B04F2-7253-42F4-9ACD-5C15835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노트북에 코드 내장  /  아래 파일명은 VQA_Ensemble_ 접두사 생략</a:t>
            </a:r>
          </a:p>
        </p:txBody>
      </p:sp>
      <p:sp>
        <p:nvSpPr>
          <p:cNvPr id="3" name="text_27">
            <a:extLst xmlns:a="http://schemas.openxmlformats.org/drawingml/2006/main">
              <a:ext uri="{FF2B5EF4-FFF2-40B4-BE49-F238E27FC236}">
                <a16:creationId xmlns:a16="http://schemas.microsoft.com/office/drawing/2014/main" id="{1CC05328-EFE9-4F35-9264-70E3A0D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02 공통 함수 · 03 설정</a:t>
            </a:r>
          </a:p>
        </p:txBody>
      </p:sp>
      <p:sp>
        <p:nvSpPr>
          <p:cNvPr id="4" name="text_28">
            <a:extLst xmlns:a="http://schemas.openxmlformats.org/drawingml/2006/main">
              <a:ext uri="{FF2B5EF4-FFF2-40B4-BE49-F238E27FC236}">
                <a16:creationId xmlns:a16="http://schemas.microsoft.com/office/drawing/2014/main" id="{6AB0D47E-8D40-4F36-8EDB-D6597FED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파일·설정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기능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Baseline_v1.ipynb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20단계 실행·설명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Baseline.py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기능의 CLI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Config.json / README.md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초기값 / 입력 규격·사용법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seed=42 / models=[]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재현용 seed / 직접 경로 등록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fixed + anchor_soft_guard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규칙, 불가능하면 anchor로 fallback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29">
            <a:extLst xmlns:a="http://schemas.openxmlformats.org/drawingml/2006/main">
              <a:ext uri="{FF2B5EF4-FFF2-40B4-BE49-F238E27FC236}">
                <a16:creationId xmlns:a16="http://schemas.microsoft.com/office/drawing/2014/main" id="{31FCE3FC-794A-45F2-93A1-2BAC5CF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RF·온도 보정·자동 선택은 설정에서 각각 켤 수 있다</a:t>
            </a:r>
          </a:p>
        </p:txBody>
      </p:sp>
    </p:spTree>
    <p:extLst>
      <p:ext uri="{BB962C8B-B14F-4D97-AF65-F5344CB8AC3E}">
        <p14:creationId xmlns:p14="http://schemas.microsoft.com/office/powerpoint/2010/main" val="2122466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30">
            <a:extLst xmlns:a="http://schemas.openxmlformats.org/drawingml/2006/main">
              <a:ext uri="{FF2B5EF4-FFF2-40B4-BE49-F238E27FC236}">
                <a16:creationId xmlns:a16="http://schemas.microsoft.com/office/drawing/2014/main" id="{76B95C89-61E3-4FF6-B757-D54088BF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모델 run 등록</a:t>
            </a:r>
          </a:p>
        </p:txBody>
      </p:sp>
      <p:sp>
        <p:nvSpPr>
          <p:cNvPr id="2" name="text_31">
            <a:extLst xmlns:a="http://schemas.openxmlformats.org/drawingml/2006/main">
              <a:ext uri="{FF2B5EF4-FFF2-40B4-BE49-F238E27FC236}">
                <a16:creationId xmlns:a16="http://schemas.microsoft.com/office/drawing/2014/main" id="{5E78E49A-388A-4819-9912-8F7D1D3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이름·입력 종류·폴더·validation 제외 여부를 지정한다</a:t>
            </a:r>
          </a:p>
        </p:txBody>
      </p:sp>
      <p:sp>
        <p:nvSpPr>
          <p:cNvPr id="3" name="text_32">
            <a:extLst xmlns:a="http://schemas.openxmlformats.org/drawingml/2006/main">
              <a:ext uri="{FF2B5EF4-FFF2-40B4-BE49-F238E27FC236}">
                <a16:creationId xmlns:a16="http://schemas.microsoft.com/office/drawing/2014/main" id="{DB4CD1F1-7D48-404B-8649-D92F9E0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05 모델 로드 · 20 실행 설정</a:t>
            </a:r>
          </a:p>
        </p:txBody>
      </p:sp>
      <p:sp>
        <p:nvSpPr>
          <p:cNvPr id="4" name="text_33">
            <a:extLst xmlns:a="http://schemas.openxmlformats.org/drawingml/2006/main">
              <a:ext uri="{FF2B5EF4-FFF2-40B4-BE49-F238E27FC236}">
                <a16:creationId xmlns:a16="http://schemas.microsoft.com/office/drawing/2014/main" id="{2204AEA0-0FC5-4CC4-98F8-8B6C373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5" name="rect_34">
            <a:extLst xmlns:a="http://schemas.openxmlformats.org/drawingml/2006/main">
              <a:ext uri="{FF2B5EF4-FFF2-40B4-BE49-F238E27FC236}">
                <a16:creationId xmlns:a16="http://schemas.microsoft.com/office/drawing/2014/main" id="{150A6959-FB5A-4891-B1B4-75402561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CFG["models"] = [{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"name": "gemma31", "kind": "soft_run",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"run_dir": "/path/runs/gemma31",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"heldout_predictions_confirmed": True,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CFG["validation_csv"] = "/path/validation_rows.csv"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CFG["sample_submission_csv"] = "/path/sample.csv"</a:t>
            </a:r>
          </a:p>
        </p:txBody>
      </p:sp>
      <p:sp>
        <p:nvSpPr>
          <p:cNvPr id="6" name="text_35">
            <a:extLst xmlns:a="http://schemas.openxmlformats.org/drawingml/2006/main">
              <a:ext uri="{FF2B5EF4-FFF2-40B4-BE49-F238E27FC236}">
                <a16:creationId xmlns:a16="http://schemas.microsoft.com/office/drawing/2014/main" id="{7EEBAD94-2C3D-44E7-A3E9-D182DBB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기준 모델 고정: CFG["anchor"]["name"] = "gemma31"</a:t>
            </a:r>
          </a:p>
        </p:txBody>
      </p:sp>
    </p:spTree>
    <p:extLst>
      <p:ext uri="{BB962C8B-B14F-4D97-AF65-F5344CB8AC3E}">
        <p14:creationId xmlns:p14="http://schemas.microsoft.com/office/powerpoint/2010/main" val="1785560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36">
            <a:extLst xmlns:a="http://schemas.openxmlformats.org/drawingml/2006/main">
              <a:ext uri="{FF2B5EF4-FFF2-40B4-BE49-F238E27FC236}">
                <a16:creationId xmlns:a16="http://schemas.microsoft.com/office/drawing/2014/main" id="{807F8C82-C145-4423-919A-46E95075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ID 정렬</a:t>
            </a:r>
          </a:p>
        </p:txBody>
      </p:sp>
      <p:sp>
        <p:nvSpPr>
          <p:cNvPr id="2" name="text_37">
            <a:extLst xmlns:a="http://schemas.openxmlformats.org/drawingml/2006/main">
              <a:ext uri="{FF2B5EF4-FFF2-40B4-BE49-F238E27FC236}">
                <a16:creationId xmlns:a16="http://schemas.microsoft.com/office/drawing/2014/main" id="{36118968-8DD9-4104-8AD5-BC1A2F1F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행 번호 대신 ID로 맞추고 문자열의 앞자리 0도 보존한다</a:t>
            </a:r>
          </a:p>
        </p:txBody>
      </p:sp>
      <p:sp>
        <p:nvSpPr>
          <p:cNvPr id="3" name="text_38">
            <a:extLst xmlns:a="http://schemas.openxmlformats.org/drawingml/2006/main">
              <a:ext uri="{FF2B5EF4-FFF2-40B4-BE49-F238E27FC236}">
                <a16:creationId xmlns:a16="http://schemas.microsoft.com/office/drawing/2014/main" id="{000C1FA3-AE32-4445-81D2-39ABF08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04 ID 검증 · 06 공통 정렬</a:t>
            </a:r>
          </a:p>
        </p:txBody>
      </p:sp>
      <p:sp>
        <p:nvSpPr>
          <p:cNvPr id="4" name="text_39">
            <a:extLst xmlns:a="http://schemas.openxmlformats.org/drawingml/2006/main">
              <a:ext uri="{FF2B5EF4-FFF2-40B4-BE49-F238E27FC236}">
                <a16:creationId xmlns:a16="http://schemas.microsoft.com/office/drawing/2014/main" id="{18BD1D62-101A-4C9B-BD9D-3D2695F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829050"/>
                <a:gridCol w="3810000"/>
              </a:tblGrid>
              <a:tr h="6596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ID 순서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 파일의 순서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재배열할 행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001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010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1번 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010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001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0번 행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2번 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_40">
            <a:extLst xmlns:a="http://schemas.openxmlformats.org/drawingml/2006/main">
              <a:ext uri="{FF2B5EF4-FFF2-40B4-BE49-F238E27FC236}">
                <a16:creationId xmlns:a16="http://schemas.microsoft.com/office/drawing/2014/main" id="{5A41DD3C-AB2D-4FFD-870B-BD4A415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lookup = {v: i for i, v in enumerate(source_ids)}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aligned = values[[lookup[v] for v in target_ids]]</a:t>
            </a:r>
          </a:p>
        </p:txBody>
      </p:sp>
    </p:spTree>
    <p:extLst>
      <p:ext uri="{BB962C8B-B14F-4D97-AF65-F5344CB8AC3E}">
        <p14:creationId xmlns:p14="http://schemas.microsoft.com/office/powerpoint/2010/main" val="375963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41">
            <a:extLst xmlns:a="http://schemas.openxmlformats.org/drawingml/2006/main">
              <a:ext uri="{FF2B5EF4-FFF2-40B4-BE49-F238E27FC236}">
                <a16:creationId xmlns:a16="http://schemas.microsoft.com/office/drawing/2014/main" id="{588A3FB8-419A-4017-9CE6-0A49943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클래스와 보기 순서 정렬</a:t>
            </a:r>
          </a:p>
        </p:txBody>
      </p:sp>
      <p:sp>
        <p:nvSpPr>
          <p:cNvPr id="2" name="text_42">
            <a:extLst xmlns:a="http://schemas.openxmlformats.org/drawingml/2006/main">
              <a:ext uri="{FF2B5EF4-FFF2-40B4-BE49-F238E27FC236}">
                <a16:creationId xmlns:a16="http://schemas.microsoft.com/office/drawing/2014/main" id="{C53D1A85-AFC7-40FE-BE63-B7D0114E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확률 열과 label을 원래 a/b/c/d 순서로 맞춘다</a:t>
            </a:r>
          </a:p>
        </p:txBody>
      </p:sp>
      <p:sp>
        <p:nvSpPr>
          <p:cNvPr id="3" name="text_43">
            <a:extLst xmlns:a="http://schemas.openxmlformats.org/drawingml/2006/main">
              <a:ext uri="{FF2B5EF4-FFF2-40B4-BE49-F238E27FC236}">
                <a16:creationId xmlns:a16="http://schemas.microsoft.com/office/drawing/2014/main" id="{69E05A4E-F126-4BF9-AC5E-2B6E4C0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04 클래스 검증</a:t>
            </a:r>
          </a:p>
        </p:txBody>
      </p:sp>
      <p:sp>
        <p:nvSpPr>
          <p:cNvPr id="4" name="text_44">
            <a:extLst xmlns:a="http://schemas.openxmlformats.org/drawingml/2006/main">
              <a:ext uri="{FF2B5EF4-FFF2-40B4-BE49-F238E27FC236}">
                <a16:creationId xmlns:a16="http://schemas.microsoft.com/office/drawing/2014/main" id="{49479D13-7930-42C1-9538-C2582EE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2000250"/>
                <a:gridCol w="2000250"/>
                <a:gridCol w="2000250"/>
                <a:gridCol w="2000250"/>
              </a:tblGrid>
              <a:tr h="6786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 열 순서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확률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0.10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0.10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canonical 열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정렬 후 확률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0.10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0.10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45">
            <a:extLst xmlns:a="http://schemas.openxmlformats.org/drawingml/2006/main">
              <a:ext uri="{FF2B5EF4-FFF2-40B4-BE49-F238E27FC236}">
                <a16:creationId xmlns:a16="http://schemas.microsoft.com/office/drawing/2014/main" id="{46C2A209-D801-469F-8305-C9C3A0A1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설명용 확률: 답 b  /  class_order와 보기 원래 순서 복원을 함께 확인</a:t>
            </a:r>
          </a:p>
        </p:txBody>
      </p:sp>
    </p:spTree>
    <p:extLst>
      <p:ext uri="{BB962C8B-B14F-4D97-AF65-F5344CB8AC3E}">
        <p14:creationId xmlns:p14="http://schemas.microsoft.com/office/powerpoint/2010/main" val="1375460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46">
            <a:extLst xmlns:a="http://schemas.openxmlformats.org/drawingml/2006/main">
              <a:ext uri="{FF2B5EF4-FFF2-40B4-BE49-F238E27FC236}">
                <a16:creationId xmlns:a16="http://schemas.microsoft.com/office/drawing/2014/main" id="{E449420E-C6C1-4666-BB02-4E502A7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soft·hard·test-only 입력</a:t>
            </a:r>
          </a:p>
        </p:txBody>
      </p:sp>
      <p:sp>
        <p:nvSpPr>
          <p:cNvPr id="2" name="text_47">
            <a:extLst xmlns:a="http://schemas.openxmlformats.org/drawingml/2006/main">
              <a:ext uri="{FF2B5EF4-FFF2-40B4-BE49-F238E27FC236}">
                <a16:creationId xmlns:a16="http://schemas.microsoft.com/office/drawing/2014/main" id="{6402EA52-247C-412F-87E5-83E4AAE6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파일이 실제로 제공하는 정보를 기준으로 등록한다</a:t>
            </a:r>
          </a:p>
        </p:txBody>
      </p:sp>
      <p:sp>
        <p:nvSpPr>
          <p:cNvPr id="3" name="text_48">
            <a:extLst xmlns:a="http://schemas.openxmlformats.org/drawingml/2006/main">
              <a:ext uri="{FF2B5EF4-FFF2-40B4-BE49-F238E27FC236}">
                <a16:creationId xmlns:a16="http://schemas.microsoft.com/office/drawing/2014/main" id="{ACC8F322-3FF6-40A0-AE82-7D020A9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05 모델별 soft/hard 로드</a:t>
            </a:r>
          </a:p>
        </p:txBody>
      </p:sp>
      <p:sp>
        <p:nvSpPr>
          <p:cNvPr id="4" name="text_49">
            <a:extLst xmlns:a="http://schemas.openxmlformats.org/drawingml/2006/main">
              <a:ext uri="{FF2B5EF4-FFF2-40B4-BE49-F238E27FC236}">
                <a16:creationId xmlns:a16="http://schemas.microsoft.com/office/drawing/2014/main" id="{DF4AD75E-20C2-4063-983A-E6211AE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067050"/>
              </a:tblGrid>
              <a:tr h="6629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종류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필수 예측 정보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결합 경로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soft_run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run의 final_probs + ids + metadata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soft·투표·메타 학습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soft_files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외부 real NPY + ids + 명시적 출처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soft·투표·메타 학습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hard_csv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valid pred / test answer + id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투표·범주형 메타 feature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role=test_only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test 출력만 확인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미검증 test 레시피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50">
            <a:extLst xmlns:a="http://schemas.openxmlformats.org/drawingml/2006/main">
              <a:ext uri="{FF2B5EF4-FFF2-40B4-BE49-F238E27FC236}">
                <a16:creationId xmlns:a16="http://schemas.microsoft.com/office/drawing/2014/main" id="{FC0CB582-5EEF-4804-9846-0779620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hard 답의 one-hot은 real soft 파일로 등록하지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976954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51">
            <a:extLst xmlns:a="http://schemas.openxmlformats.org/drawingml/2006/main">
              <a:ext uri="{FF2B5EF4-FFF2-40B4-BE49-F238E27FC236}">
                <a16:creationId xmlns:a16="http://schemas.microsoft.com/office/drawing/2014/main" id="{07460417-AFA3-47D0-9057-5C59F2BC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TTA 이후의 최종 확률</a:t>
            </a:r>
          </a:p>
        </p:txBody>
      </p:sp>
      <p:sp>
        <p:nvSpPr>
          <p:cNvPr id="2" name="text_52">
            <a:extLst xmlns:a="http://schemas.openxmlformats.org/drawingml/2006/main">
              <a:ext uri="{FF2B5EF4-FFF2-40B4-BE49-F238E27FC236}">
                <a16:creationId xmlns:a16="http://schemas.microsoft.com/office/drawing/2014/main" id="{DFBE9779-0667-43B1-B0BD-1F185538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모델편이 저장한 final_probs를 그대로 사용한다</a:t>
            </a:r>
          </a:p>
        </p:txBody>
      </p:sp>
      <p:sp>
        <p:nvSpPr>
          <p:cNvPr id="3" name="text_53">
            <a:extLst xmlns:a="http://schemas.openxmlformats.org/drawingml/2006/main">
              <a:ext uri="{FF2B5EF4-FFF2-40B4-BE49-F238E27FC236}">
                <a16:creationId xmlns:a16="http://schemas.microsoft.com/office/drawing/2014/main" id="{A5398D7C-0C89-434A-AA3E-21A14103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05 모델별 soft/hard 로드</a:t>
            </a:r>
          </a:p>
        </p:txBody>
      </p:sp>
      <p:sp>
        <p:nvSpPr>
          <p:cNvPr id="4" name="text_54">
            <a:extLst xmlns:a="http://schemas.openxmlformats.org/drawingml/2006/main">
              <a:ext uri="{FF2B5EF4-FFF2-40B4-BE49-F238E27FC236}">
                <a16:creationId xmlns:a16="http://schemas.microsoft.com/office/drawing/2014/main" id="{8C6613B4-34B5-4E0F-AE48-60DB4E8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752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95450"/>
                <a:gridCol w="1695450"/>
                <a:gridCol w="1695450"/>
                <a:gridCol w="1695450"/>
              </a:tblGrid>
              <a:tr h="6881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원래 보기로 복원한 확률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881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shift 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881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shift 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0.60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881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final_probs 평균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0.50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0.40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55">
            <a:extLst xmlns:a="http://schemas.openxmlformats.org/drawingml/2006/main">
              <a:ext uri="{FF2B5EF4-FFF2-40B4-BE49-F238E27FC236}">
                <a16:creationId xmlns:a16="http://schemas.microsoft.com/office/drawing/2014/main" id="{A5BB1B45-94C4-4DC9-8B29-2666B659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설명용 수치  /  test_logits를 final_probs 대신 넣지 않는다</a:t>
            </a:r>
          </a:p>
        </p:txBody>
      </p:sp>
    </p:spTree>
    <p:extLst>
      <p:ext uri="{BB962C8B-B14F-4D97-AF65-F5344CB8AC3E}">
        <p14:creationId xmlns:p14="http://schemas.microsoft.com/office/powerpoint/2010/main" val="675175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56">
            <a:extLst xmlns:a="http://schemas.openxmlformats.org/drawingml/2006/main">
              <a:ext uri="{FF2B5EF4-FFF2-40B4-BE49-F238E27FC236}">
                <a16:creationId xmlns:a16="http://schemas.microsoft.com/office/drawing/2014/main" id="{CCA5C126-E099-46C5-9657-78473C72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공통 validation 확인</a:t>
            </a:r>
          </a:p>
        </p:txBody>
      </p:sp>
      <p:sp>
        <p:nvSpPr>
          <p:cNvPr id="2" name="text_57">
            <a:extLst xmlns:a="http://schemas.openxmlformats.org/drawingml/2006/main">
              <a:ext uri="{FF2B5EF4-FFF2-40B4-BE49-F238E27FC236}">
                <a16:creationId xmlns:a16="http://schemas.microsoft.com/office/drawing/2014/main" id="{6CEB039D-74EC-4D2A-A3BA-6461658A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ID뿐 아니라 정답·질문·보기·이미지 내용도 대조한다</a:t>
            </a:r>
          </a:p>
        </p:txBody>
      </p:sp>
      <p:sp>
        <p:nvSpPr>
          <p:cNvPr id="3" name="text_58">
            <a:extLst xmlns:a="http://schemas.openxmlformats.org/drawingml/2006/main">
              <a:ext uri="{FF2B5EF4-FFF2-40B4-BE49-F238E27FC236}">
                <a16:creationId xmlns:a16="http://schemas.microsoft.com/office/drawing/2014/main" id="{14C7F19F-A673-40CD-8704-59B92349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06 공통 validation·test 정렬</a:t>
            </a:r>
          </a:p>
        </p:txBody>
      </p:sp>
      <p:sp>
        <p:nvSpPr>
          <p:cNvPr id="4" name="text_59">
            <a:extLst xmlns:a="http://schemas.openxmlformats.org/drawingml/2006/main">
              <a:ext uri="{FF2B5EF4-FFF2-40B4-BE49-F238E27FC236}">
                <a16:creationId xmlns:a16="http://schemas.microsoft.com/office/drawing/2014/main" id="{2EE63C92-DFB4-4804-BA86-F1DD875D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항목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검사 내용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ID·정답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 집합 / 같은 ID의 label 일치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문항·보기·이미지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question, a/b/c/d, 이미지 hash 대조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 학습 제외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training_rows의 ID·그룹·hash 중복 확인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없는 원본 기록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heldout / same_task 선언과 미확인 경고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범위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672·1,343·1,434를 같은 집합으로 간주하지 않음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4049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725025" y="43243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D73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667125" y="43243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800350"/>
            <a:ext cx="3629025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87D73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67125" y="2800350"/>
            <a:ext cx="2428875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sp>
        <p:nvSpPr>
          <p:cNvPr id="18" name="text_60">
            <a:extLst xmlns:a="http://schemas.openxmlformats.org/drawingml/2006/main">
              <a:ext uri="{FF2B5EF4-FFF2-40B4-BE49-F238E27FC236}">
                <a16:creationId xmlns:a16="http://schemas.microsoft.com/office/drawing/2014/main" id="{3A21C18C-5720-4F8D-BD9E-BA1347B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이미지 그룹 meta 분할</a:t>
            </a:r>
          </a:p>
        </p:txBody>
      </p:sp>
      <p:sp>
        <p:nvSpPr>
          <p:cNvPr id="2" name="text_61">
            <a:extLst xmlns:a="http://schemas.openxmlformats.org/drawingml/2006/main">
              <a:ext uri="{FF2B5EF4-FFF2-40B4-BE49-F238E27FC236}">
                <a16:creationId xmlns:a16="http://schemas.microsoft.com/office/drawing/2014/main" id="{50093899-0B0C-4D5C-A391-2163A8F4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공통 validation 안에서 앙상블 학습용과 평가용을 나눈다</a:t>
            </a:r>
          </a:p>
        </p:txBody>
      </p:sp>
      <p:sp>
        <p:nvSpPr>
          <p:cNvPr id="3" name="text_62">
            <a:extLst xmlns:a="http://schemas.openxmlformats.org/drawingml/2006/main">
              <a:ext uri="{FF2B5EF4-FFF2-40B4-BE49-F238E27FC236}">
                <a16:creationId xmlns:a16="http://schemas.microsoft.com/office/drawing/2014/main" id="{8DE3B6CE-1081-49DC-85AD-0774AC4E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07 이미지 그룹 meta 분할</a:t>
            </a:r>
          </a:p>
        </p:txBody>
      </p:sp>
      <p:sp>
        <p:nvSpPr>
          <p:cNvPr id="4" name="text_63">
            <a:extLst xmlns:a="http://schemas.openxmlformats.org/drawingml/2006/main">
              <a:ext uri="{FF2B5EF4-FFF2-40B4-BE49-F238E27FC236}">
                <a16:creationId xmlns:a16="http://schemas.microsoft.com/office/drawing/2014/main" id="{3D8A532C-26A4-45A8-803B-89C29F76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5" name="rect_64">
            <a:extLst xmlns:a="http://schemas.openxmlformats.org/drawingml/2006/main">
              <a:ext uri="{FF2B5EF4-FFF2-40B4-BE49-F238E27FC236}">
                <a16:creationId xmlns:a16="http://schemas.microsoft.com/office/drawing/2014/main" id="{C05C7D78-60E1-49A2-B4E5-512229E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00250"/>
            <a:ext cx="4229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공통 validation 1,000개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설명용 예시</a:t>
            </a:r>
          </a:p>
        </p:txBody>
      </p:sp>
      <p:sp>
        <p:nvSpPr>
          <p:cNvPr id="6" name="rect_65">
            <a:extLst xmlns:a="http://schemas.openxmlformats.org/drawingml/2006/main">
              <a:ext uri="{FF2B5EF4-FFF2-40B4-BE49-F238E27FC236}">
                <a16:creationId xmlns:a16="http://schemas.microsoft.com/office/drawing/2014/main" id="{9E73879F-3C34-4B69-9014-B321DCDF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611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meta-fit 약 800개</a:t>
            </a:r>
          </a:p>
        </p:txBody>
      </p:sp>
      <p:sp>
        <p:nvSpPr>
          <p:cNvPr id="7" name="rect_66">
            <a:extLst xmlns:a="http://schemas.openxmlformats.org/drawingml/2006/main">
              <a:ext uri="{FF2B5EF4-FFF2-40B4-BE49-F238E27FC236}">
                <a16:creationId xmlns:a16="http://schemas.microsoft.com/office/drawing/2014/main" id="{2CAE1F96-36F4-44E3-B5E8-A4148F0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meta-holdout 약 200개</a:t>
            </a:r>
          </a:p>
        </p:txBody>
      </p:sp>
      <p:sp>
        <p:nvSpPr>
          <p:cNvPr id="8" name="rect_67">
            <a:extLst xmlns:a="http://schemas.openxmlformats.org/drawingml/2006/main">
              <a:ext uri="{FF2B5EF4-FFF2-40B4-BE49-F238E27FC236}">
                <a16:creationId xmlns:a16="http://schemas.microsoft.com/office/drawing/2014/main" id="{6806657E-5EAB-4C24-8A40-3EE4522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6115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온도·가중치·RF 학습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내부 OOF로 규칙 선택</a:t>
            </a:r>
          </a:p>
        </p:txBody>
      </p:sp>
      <p:sp>
        <p:nvSpPr>
          <p:cNvPr id="9" name="rect_68">
            <a:extLst xmlns:a="http://schemas.openxmlformats.org/drawingml/2006/main">
              <a:ext uri="{FF2B5EF4-FFF2-40B4-BE49-F238E27FC236}">
                <a16:creationId xmlns:a16="http://schemas.microsoft.com/office/drawing/2014/main" id="{FD367AC4-B10C-4DFF-ABD8-DEA5436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86350"/>
            <a:ext cx="3714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선택 후 평가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학습·선택에서 제외</a:t>
            </a:r>
          </a:p>
        </p:txBody>
      </p:sp>
    </p:spTree>
    <p:extLst>
      <p:ext uri="{BB962C8B-B14F-4D97-AF65-F5344CB8AC3E}">
        <p14:creationId xmlns:p14="http://schemas.microsoft.com/office/powerpoint/2010/main" val="2602339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69">
            <a:extLst xmlns:a="http://schemas.openxmlformats.org/drawingml/2006/main">
              <a:ext uri="{FF2B5EF4-FFF2-40B4-BE49-F238E27FC236}">
                <a16:creationId xmlns:a16="http://schemas.microsoft.com/office/drawing/2014/main" id="{4E07E9B3-F5E4-414A-961D-8A637914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평가 지표</a:t>
            </a:r>
          </a:p>
        </p:txBody>
      </p:sp>
      <p:sp>
        <p:nvSpPr>
          <p:cNvPr id="2" name="text_70">
            <a:extLst xmlns:a="http://schemas.openxmlformats.org/drawingml/2006/main">
              <a:ext uri="{FF2B5EF4-FFF2-40B4-BE49-F238E27FC236}">
                <a16:creationId xmlns:a16="http://schemas.microsoft.com/office/drawing/2014/main" id="{2B31E549-9674-40B0-B9D2-64669F0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정답률과 확률의 품질을 구분해서 계산한다</a:t>
            </a:r>
          </a:p>
        </p:txBody>
      </p:sp>
      <p:sp>
        <p:nvSpPr>
          <p:cNvPr id="3" name="text_71">
            <a:extLst xmlns:a="http://schemas.openxmlformats.org/drawingml/2006/main">
              <a:ext uri="{FF2B5EF4-FFF2-40B4-BE49-F238E27FC236}">
                <a16:creationId xmlns:a16="http://schemas.microsoft.com/office/drawing/2014/main" id="{E5914499-DFAA-4EE3-8429-246747D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08 평가 지표·Rescue/Harm</a:t>
            </a:r>
          </a:p>
        </p:txBody>
      </p:sp>
      <p:sp>
        <p:nvSpPr>
          <p:cNvPr id="4" name="text_72">
            <a:extLst xmlns:a="http://schemas.openxmlformats.org/drawingml/2006/main">
              <a:ext uri="{FF2B5EF4-FFF2-40B4-BE49-F238E27FC236}">
                <a16:creationId xmlns:a16="http://schemas.microsoft.com/office/drawing/2014/main" id="{6B5BD8EF-1CB6-4EB8-A894-E7F5A29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143500"/>
                <a:gridCol w="30670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입력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Accuracy / 클래스별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답의 정답률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hard·soft 모두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NLL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정답에 둔 확률의 -log 평균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probability 후보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Brier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네 클래스 확률 오차 제곱합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probability 후보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ECE, 10 bins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confidence와 실제 정답률 차이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probability 후보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Rescue / Harm / Net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오답 구제 / 정답 훼손 / 차이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hard·soft 모두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21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73">
            <a:extLst xmlns:a="http://schemas.openxmlformats.org/drawingml/2006/main">
              <a:ext uri="{FF2B5EF4-FFF2-40B4-BE49-F238E27FC236}">
                <a16:creationId xmlns:a16="http://schemas.microsoft.com/office/drawing/2014/main" id="{82D396FC-62F2-4861-ADE7-8CF78DF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실제 soft 확률의 평균</a:t>
            </a:r>
          </a:p>
        </p:txBody>
      </p:sp>
      <p:sp>
        <p:nvSpPr>
          <p:cNvPr id="2" name="text_74">
            <a:extLst xmlns:a="http://schemas.openxmlformats.org/drawingml/2006/main">
              <a:ext uri="{FF2B5EF4-FFF2-40B4-BE49-F238E27FC236}">
                <a16:creationId xmlns:a16="http://schemas.microsoft.com/office/drawing/2014/main" id="{849CACCC-7E90-4B98-98DE-AD3C1A6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설명용 확률  /  같은 문항·같은 클래스의 값을 결합한다</a:t>
            </a:r>
          </a:p>
        </p:txBody>
      </p:sp>
      <p:sp>
        <p:nvSpPr>
          <p:cNvPr id="3" name="text_75">
            <a:extLst xmlns:a="http://schemas.openxmlformats.org/drawingml/2006/main">
              <a:ext uri="{FF2B5EF4-FFF2-40B4-BE49-F238E27FC236}">
                <a16:creationId xmlns:a16="http://schemas.microsoft.com/office/drawing/2014/main" id="{B9C816F5-E76C-41FE-B9F6-C68C2FA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09 온도·soft 가중치 · 12 후보 예측</a:t>
            </a:r>
          </a:p>
        </p:txBody>
      </p:sp>
      <p:sp>
        <p:nvSpPr>
          <p:cNvPr id="4" name="text_76">
            <a:extLst xmlns:a="http://schemas.openxmlformats.org/drawingml/2006/main">
              <a:ext uri="{FF2B5EF4-FFF2-40B4-BE49-F238E27FC236}">
                <a16:creationId xmlns:a16="http://schemas.microsoft.com/office/drawing/2014/main" id="{CD7692AD-E3C0-4DE7-8850-D1CFAE4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a57800bbb41b0"/>
          </a:graphicData>
        </a:graphic>
      </p:graphicFrame>
      <p:sp>
        <p:nvSpPr>
          <p:cNvPr id="6" name="rect_77">
            <a:extLst xmlns:a="http://schemas.openxmlformats.org/drawingml/2006/main">
              <a:ext uri="{FF2B5EF4-FFF2-40B4-BE49-F238E27FC236}">
                <a16:creationId xmlns:a16="http://schemas.microsoft.com/office/drawing/2014/main" id="{839635E1-89DD-4F0D-8656-33BD05B8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q = np.tensordot(weights, stack, axes=(0, 0))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pred = q.argmax(axis=1)</a:t>
            </a:r>
          </a:p>
        </p:txBody>
      </p:sp>
    </p:spTree>
    <p:extLst>
      <p:ext uri="{BB962C8B-B14F-4D97-AF65-F5344CB8AC3E}">
        <p14:creationId xmlns:p14="http://schemas.microsoft.com/office/powerpoint/2010/main" val="1373485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78">
            <a:extLst xmlns:a="http://schemas.openxmlformats.org/drawingml/2006/main">
              <a:ext uri="{FF2B5EF4-FFF2-40B4-BE49-F238E27FC236}">
                <a16:creationId xmlns:a16="http://schemas.microsoft.com/office/drawing/2014/main" id="{83788B0A-C6D9-4B7B-8329-43F33CC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온도 보정과 학습 가중치</a:t>
            </a:r>
          </a:p>
        </p:txBody>
      </p:sp>
      <p:sp>
        <p:nvSpPr>
          <p:cNvPr id="2" name="text_79">
            <a:extLst xmlns:a="http://schemas.openxmlformats.org/drawingml/2006/main">
              <a:ext uri="{FF2B5EF4-FFF2-40B4-BE49-F238E27FC236}">
                <a16:creationId xmlns:a16="http://schemas.microsoft.com/office/drawing/2014/main" id="{4039EA5F-BBFF-444D-9698-FEF64D19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선택 옵션이며 meta-fit 정답만 사용해 학습한다</a:t>
            </a:r>
          </a:p>
        </p:txBody>
      </p:sp>
      <p:sp>
        <p:nvSpPr>
          <p:cNvPr id="3" name="text_80">
            <a:extLst xmlns:a="http://schemas.openxmlformats.org/drawingml/2006/main">
              <a:ext uri="{FF2B5EF4-FFF2-40B4-BE49-F238E27FC236}">
                <a16:creationId xmlns:a16="http://schemas.microsoft.com/office/drawing/2014/main" id="{40F788DB-9A61-46A3-B243-5117CDF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09 온도·soft 가중치 학습</a:t>
            </a:r>
          </a:p>
        </p:txBody>
      </p:sp>
      <p:sp>
        <p:nvSpPr>
          <p:cNvPr id="4" name="text_81">
            <a:extLst xmlns:a="http://schemas.openxmlformats.org/drawingml/2006/main">
              <a:ext uri="{FF2B5EF4-FFF2-40B4-BE49-F238E27FC236}">
                <a16:creationId xmlns:a16="http://schemas.microsoft.com/office/drawing/2014/main" id="{69A4B77C-9BE5-4F9D-9FBA-42B44CD6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09925"/>
                <a:gridCol w="490537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옵션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초기값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 규칙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calibration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none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시 final_probs_temperature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온도 T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0.5~3.0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NLL 최소화, 불개선 시 1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learned_weights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enabled=False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합1·비음수 가중치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가중치 규제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L2=0.01 / maxiter=300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NLL + 균등 가중치와의 거리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82">
            <a:extLst xmlns:a="http://schemas.openxmlformats.org/drawingml/2006/main">
              <a:ext uri="{FF2B5EF4-FFF2-40B4-BE49-F238E27FC236}">
                <a16:creationId xmlns:a16="http://schemas.microsoft.com/office/drawing/2014/main" id="{72C36CCA-FF03-4E74-A499-1D919343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p′(c) = p(c)^(1/T) / Σ p(j)^(1/T)</a:t>
            </a:r>
          </a:p>
        </p:txBody>
      </p:sp>
    </p:spTree>
    <p:extLst>
      <p:ext uri="{BB962C8B-B14F-4D97-AF65-F5344CB8AC3E}">
        <p14:creationId xmlns:p14="http://schemas.microsoft.com/office/powerpoint/2010/main" val="19592729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83">
            <a:extLst xmlns:a="http://schemas.openxmlformats.org/drawingml/2006/main">
              <a:ext uri="{FF2B5EF4-FFF2-40B4-BE49-F238E27FC236}">
                <a16:creationId xmlns:a16="http://schemas.microsoft.com/office/drawing/2014/main" id="{7CFDA007-5A72-4403-9FBD-1846819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hard 투표와 동점</a:t>
            </a:r>
          </a:p>
        </p:txBody>
      </p:sp>
      <p:sp>
        <p:nvSpPr>
          <p:cNvPr id="2" name="text_84">
            <a:extLst xmlns:a="http://schemas.openxmlformats.org/drawingml/2006/main">
              <a:ext uri="{FF2B5EF4-FFF2-40B4-BE49-F238E27FC236}">
                <a16:creationId xmlns:a16="http://schemas.microsoft.com/office/drawing/2014/main" id="{07A7B94D-CDDC-4761-9D77-E960BDD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soft 모델의 argmax도 투표에서는 한 표가 된다</a:t>
            </a:r>
          </a:p>
        </p:txBody>
      </p:sp>
      <p:sp>
        <p:nvSpPr>
          <p:cNvPr id="3" name="text_85">
            <a:extLst xmlns:a="http://schemas.openxmlformats.org/drawingml/2006/main">
              <a:ext uri="{FF2B5EF4-FFF2-40B4-BE49-F238E27FC236}">
                <a16:creationId xmlns:a16="http://schemas.microsoft.com/office/drawing/2014/main" id="{61ED028B-0B69-4CE6-9090-04070ED3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10 투표·만장일치</a:t>
            </a:r>
          </a:p>
        </p:txBody>
      </p:sp>
      <p:sp>
        <p:nvSpPr>
          <p:cNvPr id="4" name="text_86">
            <a:extLst xmlns:a="http://schemas.openxmlformats.org/drawingml/2006/main">
              <a:ext uri="{FF2B5EF4-FFF2-40B4-BE49-F238E27FC236}">
                <a16:creationId xmlns:a16="http://schemas.microsoft.com/office/drawing/2014/main" id="{E4A25B75-AA92-4181-874A-405A6D6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86225"/>
                <a:gridCol w="3457575"/>
                <a:gridCol w="1714500"/>
                <a:gridCol w="1714500"/>
              </a:tblGrid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설명용 투표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득표 a/b/c/d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답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b, b, b, c, c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 / 3 / 2 / 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b, b, c, c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 / 2 / 2 / 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b, b, c, c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 / 2 / 2 / 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87">
            <a:extLst xmlns:a="http://schemas.openxmlformats.org/drawingml/2006/main">
              <a:ext uri="{FF2B5EF4-FFF2-40B4-BE49-F238E27FC236}">
                <a16:creationId xmlns:a16="http://schemas.microsoft.com/office/drawing/2014/main" id="{50E21FC7-04EE-40CB-9CD4-934D018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득표 수는 *_vote_counts.npy에 별도로 저장한다</a:t>
            </a:r>
          </a:p>
        </p:txBody>
      </p:sp>
    </p:spTree>
    <p:extLst>
      <p:ext uri="{BB962C8B-B14F-4D97-AF65-F5344CB8AC3E}">
        <p14:creationId xmlns:p14="http://schemas.microsoft.com/office/powerpoint/2010/main" val="7820834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88">
            <a:extLst xmlns:a="http://schemas.openxmlformats.org/drawingml/2006/main">
              <a:ext uri="{FF2B5EF4-FFF2-40B4-BE49-F238E27FC236}">
                <a16:creationId xmlns:a16="http://schemas.microsoft.com/office/drawing/2014/main" id="{A8D759F5-96B1-414F-A3EF-9CCF04D5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core3와 4·8개 만장일치</a:t>
            </a:r>
          </a:p>
        </p:txBody>
      </p:sp>
      <p:sp>
        <p:nvSpPr>
          <p:cNvPr id="2" name="text_89">
            <a:extLst xmlns:a="http://schemas.openxmlformats.org/drawingml/2006/main">
              <a:ext uri="{FF2B5EF4-FFF2-40B4-BE49-F238E27FC236}">
                <a16:creationId xmlns:a16="http://schemas.microsoft.com/office/drawing/2014/main" id="{4D60490C-8143-445A-A834-C6D0CFEE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선택한 모델 전원이 동의할 때만 anchor 답을 교체한다</a:t>
            </a:r>
          </a:p>
        </p:txBody>
      </p:sp>
      <p:sp>
        <p:nvSpPr>
          <p:cNvPr id="3" name="text_90">
            <a:extLst xmlns:a="http://schemas.openxmlformats.org/drawingml/2006/main">
              <a:ext uri="{FF2B5EF4-FFF2-40B4-BE49-F238E27FC236}">
                <a16:creationId xmlns:a16="http://schemas.microsoft.com/office/drawing/2014/main" id="{90958E85-D4E4-43D5-8F91-1F12EC31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10 투표·만장일치</a:t>
            </a:r>
          </a:p>
        </p:txBody>
      </p:sp>
      <p:sp>
        <p:nvSpPr>
          <p:cNvPr id="4" name="text_91">
            <a:extLst xmlns:a="http://schemas.openxmlformats.org/drawingml/2006/main">
              <a:ext uri="{FF2B5EF4-FFF2-40B4-BE49-F238E27FC236}">
                <a16:creationId xmlns:a16="http://schemas.microsoft.com/office/drawing/2014/main" id="{7C3F99AD-3081-4EC1-A0E1-CC663FB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4695825"/>
                <a:gridCol w="2752725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규칙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 구성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동의하지 않을 때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core_unanimous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anchor 제외 상위 최대 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유지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unanimous_4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상위 4개, 4개 이상 등록 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유지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unanimous_8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상위 8개, 8개 이상 등록 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유지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92">
            <a:extLst xmlns:a="http://schemas.openxmlformats.org/drawingml/2006/main">
              <a:ext uri="{FF2B5EF4-FFF2-40B4-BE49-F238E27FC236}">
                <a16:creationId xmlns:a16="http://schemas.microsoft.com/office/drawing/2014/main" id="{AD3F8949-5134-489E-8EE3-AEC3CE35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예시: anchor=a, core=[b,b,b]이면 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예시: anchor=a, core=[b,b,c]이면 a</a:t>
            </a:r>
          </a:p>
        </p:txBody>
      </p:sp>
    </p:spTree>
    <p:extLst>
      <p:ext uri="{BB962C8B-B14F-4D97-AF65-F5344CB8AC3E}">
        <p14:creationId xmlns:p14="http://schemas.microsoft.com/office/powerpoint/2010/main" val="10109579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93">
            <a:extLst xmlns:a="http://schemas.openxmlformats.org/drawingml/2006/main">
              <a:ext uri="{FF2B5EF4-FFF2-40B4-BE49-F238E27FC236}">
                <a16:creationId xmlns:a16="http://schemas.microsoft.com/office/drawing/2014/main" id="{98ED7CA6-C10C-4FDA-84BB-A04C18B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anchor 답의 조건부 교체</a:t>
            </a:r>
          </a:p>
        </p:txBody>
      </p:sp>
      <p:sp>
        <p:nvSpPr>
          <p:cNvPr id="2" name="text_94">
            <a:extLst xmlns:a="http://schemas.openxmlformats.org/drawingml/2006/main">
              <a:ext uri="{FF2B5EF4-FFF2-40B4-BE49-F238E27FC236}">
                <a16:creationId xmlns:a16="http://schemas.microsoft.com/office/drawing/2014/main" id="{B2808292-5738-4C30-973E-B438458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proposal을 지지하는 수와 확률 조건을 함께 확인한다</a:t>
            </a:r>
          </a:p>
        </p:txBody>
      </p:sp>
      <p:sp>
        <p:nvSpPr>
          <p:cNvPr id="3" name="text_95">
            <a:extLst xmlns:a="http://schemas.openxmlformats.org/drawingml/2006/main">
              <a:ext uri="{FF2B5EF4-FFF2-40B4-BE49-F238E27FC236}">
                <a16:creationId xmlns:a16="http://schemas.microsoft.com/office/drawing/2014/main" id="{980E1071-7EF9-49FC-A7D8-DAF22E7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10 기준 모델 보호</a:t>
            </a:r>
          </a:p>
        </p:txBody>
      </p:sp>
      <p:sp>
        <p:nvSpPr>
          <p:cNvPr id="4" name="text_96">
            <a:extLst xmlns:a="http://schemas.openxmlformats.org/drawingml/2006/main">
              <a:ext uri="{FF2B5EF4-FFF2-40B4-BE49-F238E27FC236}">
                <a16:creationId xmlns:a16="http://schemas.microsoft.com/office/drawing/2014/main" id="{D3ABA961-CFA4-4CD5-B032-BF3B689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gate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답 변경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proposal과 anchor가 다름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 지지 수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제외 최소 2개가 proposal을 선택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proposal 확률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confidence ≥ 0.80 / margin ≥ 0.15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확률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최대 확률 ≤ 0.90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hard gate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soft_hard / RF guard: 다수결 일치 + 비율 ≥ 0.60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692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97">
            <a:extLst xmlns:a="http://schemas.openxmlformats.org/drawingml/2006/main">
              <a:ext uri="{FF2B5EF4-FFF2-40B4-BE49-F238E27FC236}">
                <a16:creationId xmlns:a16="http://schemas.microsoft.com/office/drawing/2014/main" id="{8F045BE4-CF8B-4C58-A7BB-E5CFAC5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guard의 통과·보류 예시</a:t>
            </a:r>
          </a:p>
        </p:txBody>
      </p:sp>
      <p:sp>
        <p:nvSpPr>
          <p:cNvPr id="2" name="text_98">
            <a:extLst xmlns:a="http://schemas.openxmlformats.org/drawingml/2006/main">
              <a:ext uri="{FF2B5EF4-FFF2-40B4-BE49-F238E27FC236}">
                <a16:creationId xmlns:a16="http://schemas.microsoft.com/office/drawing/2014/main" id="{AD0910A1-E5A0-41E3-B8D6-B7E87A35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각 조건을 모두 만족한 행만 확률 벡터를 바꾼다</a:t>
            </a:r>
          </a:p>
        </p:txBody>
      </p:sp>
      <p:sp>
        <p:nvSpPr>
          <p:cNvPr id="3" name="text_99">
            <a:extLst xmlns:a="http://schemas.openxmlformats.org/drawingml/2006/main">
              <a:ext uri="{FF2B5EF4-FFF2-40B4-BE49-F238E27FC236}">
                <a16:creationId xmlns:a16="http://schemas.microsoft.com/office/drawing/2014/main" id="{EACBFD3E-6C0C-4372-A60F-6FDABFF8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10 기준 모델 보호</a:t>
            </a:r>
          </a:p>
        </p:txBody>
      </p:sp>
      <p:sp>
        <p:nvSpPr>
          <p:cNvPr id="4" name="text_100">
            <a:extLst xmlns:a="http://schemas.openxmlformats.org/drawingml/2006/main">
              <a:ext uri="{FF2B5EF4-FFF2-40B4-BE49-F238E27FC236}">
                <a16:creationId xmlns:a16="http://schemas.microsoft.com/office/drawing/2014/main" id="{C8CD3351-E08F-405A-B85D-BC80B39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9650"/>
                <a:gridCol w="1905000"/>
                <a:gridCol w="2295525"/>
                <a:gridCol w="1504950"/>
                <a:gridCol w="1447800"/>
                <a:gridCol w="2809875"/>
              </a:tblGrid>
              <a:tr h="6786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행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conf.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proposal conf.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margin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지지 수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0.65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0.86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0.77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b로 교체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0.65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0.50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유지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0.96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0.86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0.77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유지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101">
            <a:extLst xmlns:a="http://schemas.openxmlformats.org/drawingml/2006/main">
              <a:ext uri="{FF2B5EF4-FFF2-40B4-BE49-F238E27FC236}">
                <a16:creationId xmlns:a16="http://schemas.microsoft.com/office/drawing/2014/main" id="{EDEDDA1D-63D4-4810-B8E8-30F3024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설명용 수치  /  교체 여부와 정답 개선 여부는 별도다</a:t>
            </a:r>
          </a:p>
        </p:txBody>
      </p:sp>
    </p:spTree>
    <p:extLst>
      <p:ext uri="{BB962C8B-B14F-4D97-AF65-F5344CB8AC3E}">
        <p14:creationId xmlns:p14="http://schemas.microsoft.com/office/powerpoint/2010/main" val="8468805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02">
            <a:extLst xmlns:a="http://schemas.openxmlformats.org/drawingml/2006/main">
              <a:ext uri="{FF2B5EF4-FFF2-40B4-BE49-F238E27FC236}">
                <a16:creationId xmlns:a16="http://schemas.microsoft.com/office/drawing/2014/main" id="{29544DDA-D318-4CDF-8B3F-4CB7599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Random Forest의 입력 feature</a:t>
            </a:r>
          </a:p>
        </p:txBody>
      </p:sp>
      <p:sp>
        <p:nvSpPr>
          <p:cNvPr id="2" name="text_103">
            <a:extLst xmlns:a="http://schemas.openxmlformats.org/drawingml/2006/main">
              <a:ext uri="{FF2B5EF4-FFF2-40B4-BE49-F238E27FC236}">
                <a16:creationId xmlns:a16="http://schemas.microsoft.com/office/drawing/2014/main" id="{DE5C3439-7E5A-44FD-A033-F67D49FF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모델별 예측과 의견 차이를 한 행의 숫자로 구성한다</a:t>
            </a:r>
          </a:p>
        </p:txBody>
      </p:sp>
      <p:sp>
        <p:nvSpPr>
          <p:cNvPr id="3" name="text_104">
            <a:extLst xmlns:a="http://schemas.openxmlformats.org/drawingml/2006/main">
              <a:ext uri="{FF2B5EF4-FFF2-40B4-BE49-F238E27FC236}">
                <a16:creationId xmlns:a16="http://schemas.microsoft.com/office/drawing/2014/main" id="{889B6A09-01F3-4A84-A3A3-871E20D7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11 Logistic/RF 선택형 메타 모델</a:t>
            </a:r>
          </a:p>
        </p:txBody>
      </p:sp>
      <p:sp>
        <p:nvSpPr>
          <p:cNvPr id="4" name="text_105">
            <a:extLst xmlns:a="http://schemas.openxmlformats.org/drawingml/2006/main">
              <a:ext uri="{FF2B5EF4-FFF2-40B4-BE49-F238E27FC236}">
                <a16:creationId xmlns:a16="http://schemas.microsoft.com/office/drawing/2014/main" id="{62E02D6E-64A9-4CEB-804A-E6F606F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5675"/>
                <a:gridCol w="2762250"/>
                <a:gridCol w="4714875"/>
              </a:tblGrid>
              <a:tr h="6362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정보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feature 수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 모델 1개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 + 4 + 3 = 11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확률 / log(p) / conf·margin·entropy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hard-only 모델 1개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a/b/c/d 범주형 indicator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전체 모델의 투표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a/b/c/d 득표 비율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 3개 + hard 1개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41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3×11 + 4 + 4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106">
            <a:extLst xmlns:a="http://schemas.openxmlformats.org/drawingml/2006/main">
              <a:ext uri="{FF2B5EF4-FFF2-40B4-BE49-F238E27FC236}">
                <a16:creationId xmlns:a16="http://schemas.microsoft.com/office/drawing/2014/main" id="{3753F8DF-08ED-4C42-94B7-189CD79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RF가 배우는 대상: 이 예측 조합에서 정답 a/b/c/d를 선택하는 규칙</a:t>
            </a:r>
          </a:p>
        </p:txBody>
      </p:sp>
    </p:spTree>
    <p:extLst>
      <p:ext uri="{BB962C8B-B14F-4D97-AF65-F5344CB8AC3E}">
        <p14:creationId xmlns:p14="http://schemas.microsoft.com/office/powerpoint/2010/main" val="15305909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106025" y="3248025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400925" y="3248025"/>
            <a:ext cx="2705100" cy="1819275"/>
          </a:xfrm>
          <a:prstGeom xmlns:a="http://schemas.openxmlformats.org/drawingml/2006/main" prst="bentConnector4">
            <a:avLst>
              <a:gd name="adj1" fmla="val 8451"/>
              <a:gd name="adj2" fmla="val 87435"/>
            </a:avLst>
          </a:prstGeom>
          <a:ln xmlns:a="http://schemas.openxmlformats.org/drawingml/2006/main" w="23813">
            <a:solidFill>
              <a:srgbClr val="087D73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00925" y="271462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29000" y="27146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sp>
        <p:nvSpPr>
          <p:cNvPr id="18" name="text_107">
            <a:extLst xmlns:a="http://schemas.openxmlformats.org/drawingml/2006/main">
              <a:ext uri="{FF2B5EF4-FFF2-40B4-BE49-F238E27FC236}">
                <a16:creationId xmlns:a16="http://schemas.microsoft.com/office/drawing/2014/main" id="{E8AADF2D-9E0D-4E66-951C-1850C7D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RF 학습과 test 적용</a:t>
            </a:r>
          </a:p>
        </p:txBody>
      </p:sp>
      <p:sp>
        <p:nvSpPr>
          <p:cNvPr id="2" name="text_108">
            <a:extLst xmlns:a="http://schemas.openxmlformats.org/drawingml/2006/main">
              <a:ext uri="{FF2B5EF4-FFF2-40B4-BE49-F238E27FC236}">
                <a16:creationId xmlns:a16="http://schemas.microsoft.com/office/drawing/2014/main" id="{E5D2E307-6E84-4C03-8A97-FEBFB8C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학습한 메타 분류기가 네 클래스의 새 확률을 출력한다</a:t>
            </a:r>
          </a:p>
        </p:txBody>
      </p:sp>
      <p:sp>
        <p:nvSpPr>
          <p:cNvPr id="3" name="text_109">
            <a:extLst xmlns:a="http://schemas.openxmlformats.org/drawingml/2006/main">
              <a:ext uri="{FF2B5EF4-FFF2-40B4-BE49-F238E27FC236}">
                <a16:creationId xmlns:a16="http://schemas.microsoft.com/office/drawing/2014/main" id="{EDC76D12-05AF-4ADE-9366-944215C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11 메타 학습 · 12 후보 예측</a:t>
            </a:r>
          </a:p>
        </p:txBody>
      </p:sp>
      <p:sp>
        <p:nvSpPr>
          <p:cNvPr id="4" name="text_110">
            <a:extLst xmlns:a="http://schemas.openxmlformats.org/drawingml/2006/main">
              <a:ext uri="{FF2B5EF4-FFF2-40B4-BE49-F238E27FC236}">
                <a16:creationId xmlns:a16="http://schemas.microsoft.com/office/drawing/2014/main" id="{E4BCFAEB-42DE-4BD5-9948-B564BDC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5" name="rect_111">
            <a:extLst xmlns:a="http://schemas.openxmlformats.org/drawingml/2006/main">
              <a:ext uri="{FF2B5EF4-FFF2-40B4-BE49-F238E27FC236}">
                <a16:creationId xmlns:a16="http://schemas.microsoft.com/office/drawing/2014/main" id="{1128E500-0420-49D0-BD3F-A7BA4BD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819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meta-fit 예측 X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정답 y</a:t>
            </a:r>
          </a:p>
        </p:txBody>
      </p:sp>
      <p:sp>
        <p:nvSpPr>
          <p:cNvPr id="6" name="rect_112">
            <a:extLst xmlns:a="http://schemas.openxmlformats.org/drawingml/2006/main">
              <a:ext uri="{FF2B5EF4-FFF2-40B4-BE49-F238E27FC236}">
                <a16:creationId xmlns:a16="http://schemas.microsoft.com/office/drawing/2014/main" id="{4DB3064B-8697-4A2B-8109-5FCE5F9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81225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Random Forest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학습</a:t>
            </a:r>
          </a:p>
        </p:txBody>
      </p:sp>
      <p:sp>
        <p:nvSpPr>
          <p:cNvPr id="7" name="rect_113">
            <a:extLst xmlns:a="http://schemas.openxmlformats.org/drawingml/2006/main">
              <a:ext uri="{FF2B5EF4-FFF2-40B4-BE49-F238E27FC236}">
                <a16:creationId xmlns:a16="http://schemas.microsoft.com/office/drawing/2014/main" id="{0155607A-7816-47E3-A272-3C04CF73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81225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RF predict_proba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원래 a/b/c/d 순서</a:t>
            </a:r>
          </a:p>
        </p:txBody>
      </p:sp>
      <p:sp>
        <p:nvSpPr>
          <p:cNvPr id="8" name="rect_114">
            <a:extLst xmlns:a="http://schemas.openxmlformats.org/drawingml/2006/main">
              <a:ext uri="{FF2B5EF4-FFF2-40B4-BE49-F238E27FC236}">
                <a16:creationId xmlns:a16="http://schemas.microsoft.com/office/drawing/2014/main" id="{7A866D60-F730-4766-B1D1-9BF9FCC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339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holdout / test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같은 feature 순서</a:t>
            </a:r>
          </a:p>
        </p:txBody>
      </p:sp>
      <p:sp>
        <p:nvSpPr>
          <p:cNvPr id="9" name="rect_115">
            <a:extLst xmlns:a="http://schemas.openxmlformats.org/drawingml/2006/main">
              <a:ext uri="{FF2B5EF4-FFF2-40B4-BE49-F238E27FC236}">
                <a16:creationId xmlns:a16="http://schemas.microsoft.com/office/drawing/2014/main" id="{2D1412E6-6C7B-4B44-A047-0BEF15C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33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rf_meta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또는 rf_guard</a:t>
            </a:r>
          </a:p>
        </p:txBody>
      </p:sp>
    </p:spTree>
    <p:extLst>
      <p:ext uri="{BB962C8B-B14F-4D97-AF65-F5344CB8AC3E}">
        <p14:creationId xmlns:p14="http://schemas.microsoft.com/office/powerpoint/2010/main" val="476541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16">
            <a:extLst xmlns:a="http://schemas.openxmlformats.org/drawingml/2006/main">
              <a:ext uri="{FF2B5EF4-FFF2-40B4-BE49-F238E27FC236}">
                <a16:creationId xmlns:a16="http://schemas.microsoft.com/office/drawing/2014/main" id="{9FF06270-153D-480B-90A2-E76E8BEF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RF 초기값과 실행 옵션</a:t>
            </a:r>
          </a:p>
        </p:txBody>
      </p:sp>
      <p:sp>
        <p:nvSpPr>
          <p:cNvPr id="2" name="text_117">
            <a:extLst xmlns:a="http://schemas.openxmlformats.org/drawingml/2006/main">
              <a:ext uri="{FF2B5EF4-FFF2-40B4-BE49-F238E27FC236}">
                <a16:creationId xmlns:a16="http://schemas.microsoft.com/office/drawing/2014/main" id="{E3FE5B63-0AB7-458D-BCA2-7F710B4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기본 off이며 설정에서 활성화한다</a:t>
            </a:r>
          </a:p>
        </p:txBody>
      </p:sp>
      <p:sp>
        <p:nvSpPr>
          <p:cNvPr id="3" name="text_118">
            <a:extLst xmlns:a="http://schemas.openxmlformats.org/drawingml/2006/main">
              <a:ext uri="{FF2B5EF4-FFF2-40B4-BE49-F238E27FC236}">
                <a16:creationId xmlns:a16="http://schemas.microsoft.com/office/drawing/2014/main" id="{F4DA6B66-709E-42DF-99C3-4CF7D59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11 Logistic/RF 선택형 메타 모델 · 20 설정</a:t>
            </a:r>
          </a:p>
        </p:txBody>
      </p:sp>
      <p:sp>
        <p:nvSpPr>
          <p:cNvPr id="4" name="text_119">
            <a:extLst xmlns:a="http://schemas.openxmlformats.org/drawingml/2006/main">
              <a:ext uri="{FF2B5EF4-FFF2-40B4-BE49-F238E27FC236}">
                <a16:creationId xmlns:a16="http://schemas.microsoft.com/office/drawing/2014/main" id="{50267938-9DC7-481C-9EA4-7A34DC1B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3924300"/>
              </a:tblGrid>
              <a:tr h="5357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RF 설정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초기값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n_estimators / max_depth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300 / 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min_samples_leaf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max_features / n_jobs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sqrt / 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_120">
            <a:extLst xmlns:a="http://schemas.openxmlformats.org/drawingml/2006/main">
              <a:ext uri="{FF2B5EF4-FFF2-40B4-BE49-F238E27FC236}">
                <a16:creationId xmlns:a16="http://schemas.microsoft.com/office/drawing/2014/main" id="{BC7EBF80-69AC-4DF1-8C38-6659AB4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rf = CFG["meta_models"]["rf"]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rf["enabled"] = True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CFG["selection"]["policy"] = "fit_oof"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CFG["selection"]["candidates"] = ["anchor", "rf_meta", "rf_guard"]</a:t>
            </a:r>
          </a:p>
        </p:txBody>
      </p:sp>
    </p:spTree>
    <p:extLst>
      <p:ext uri="{BB962C8B-B14F-4D97-AF65-F5344CB8AC3E}">
        <p14:creationId xmlns:p14="http://schemas.microsoft.com/office/powerpoint/2010/main" val="629840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121">
            <a:extLst xmlns:a="http://schemas.openxmlformats.org/drawingml/2006/main">
              <a:ext uri="{FF2B5EF4-FFF2-40B4-BE49-F238E27FC236}">
                <a16:creationId xmlns:a16="http://schemas.microsoft.com/office/drawing/2014/main" id="{61D908D8-8654-4007-A34B-9E8E4B0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후보별 출력 의미</a:t>
            </a:r>
          </a:p>
        </p:txBody>
      </p:sp>
      <p:sp>
        <p:nvSpPr>
          <p:cNvPr id="2" name="text_122">
            <a:extLst xmlns:a="http://schemas.openxmlformats.org/drawingml/2006/main">
              <a:ext uri="{FF2B5EF4-FFF2-40B4-BE49-F238E27FC236}">
                <a16:creationId xmlns:a16="http://schemas.microsoft.com/office/drawing/2014/main" id="{A9A3FF22-A255-4F22-ABAB-B40772F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hard 답·확률·득표 수를 서로 다른 필드에 담는다</a:t>
            </a:r>
          </a:p>
        </p:txBody>
      </p:sp>
      <p:sp>
        <p:nvSpPr>
          <p:cNvPr id="3" name="text_123">
            <a:extLst xmlns:a="http://schemas.openxmlformats.org/drawingml/2006/main">
              <a:ext uri="{FF2B5EF4-FFF2-40B4-BE49-F238E27FC236}">
                <a16:creationId xmlns:a16="http://schemas.microsoft.com/office/drawing/2014/main" id="{C11023E7-DEA6-4965-A9E3-591AD262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12 후보 실행·예측 유형</a:t>
            </a:r>
          </a:p>
        </p:txBody>
      </p:sp>
      <p:sp>
        <p:nvSpPr>
          <p:cNvPr id="4" name="text_124">
            <a:extLst xmlns:a="http://schemas.openxmlformats.org/drawingml/2006/main">
              <a:ext uri="{FF2B5EF4-FFF2-40B4-BE49-F238E27FC236}">
                <a16:creationId xmlns:a16="http://schemas.microsoft.com/office/drawing/2014/main" id="{29793B5E-BBD2-4F23-B887-16E73D9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19575"/>
                <a:gridCol w="4038600"/>
                <a:gridCol w="2714625"/>
              </a:tblGrid>
              <a:tr h="592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레시피 계열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확률의 의미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득표 정보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soft_mean / fixed / learned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real probability 평균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해당 없음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hard_vote / core / unanimous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counts 또는 진단 counts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anchor_soft / soft_hard guard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anchor·proposal 행별 선택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답과 별도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rf_meta / logistic_meta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메타 분류기의 predict_proba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feature에 사용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rf_guard / logistic_guard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anchor·메타 확률 행별 선택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gate에 사용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919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25">
            <a:extLst xmlns:a="http://schemas.openxmlformats.org/drawingml/2006/main">
              <a:ext uri="{FF2B5EF4-FFF2-40B4-BE49-F238E27FC236}">
                <a16:creationId xmlns:a16="http://schemas.microsoft.com/office/drawing/2014/main" id="{056E308A-3695-4D13-872C-B6A82487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meta-fit 내부 OOF</a:t>
            </a:r>
          </a:p>
        </p:txBody>
      </p:sp>
      <p:sp>
        <p:nvSpPr>
          <p:cNvPr id="2" name="text_126">
            <a:extLst xmlns:a="http://schemas.openxmlformats.org/drawingml/2006/main">
              <a:ext uri="{FF2B5EF4-FFF2-40B4-BE49-F238E27FC236}">
                <a16:creationId xmlns:a16="http://schemas.microsoft.com/office/drawing/2014/main" id="{B5D00C8D-2F58-4BA1-9EF5-C102CAC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평가할 행을 제외하고 메타 설정을 다시 학습한다</a:t>
            </a:r>
          </a:p>
        </p:txBody>
      </p:sp>
      <p:sp>
        <p:nvSpPr>
          <p:cNvPr id="3" name="text_127">
            <a:extLst xmlns:a="http://schemas.openxmlformats.org/drawingml/2006/main">
              <a:ext uri="{FF2B5EF4-FFF2-40B4-BE49-F238E27FC236}">
                <a16:creationId xmlns:a16="http://schemas.microsoft.com/office/drawing/2014/main" id="{B0946E8C-0CFA-4107-B2BD-6871E4DC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13 Meta-fit 내부 OOF</a:t>
            </a:r>
          </a:p>
        </p:txBody>
      </p:sp>
      <p:sp>
        <p:nvSpPr>
          <p:cNvPr id="4" name="text_128">
            <a:extLst xmlns:a="http://schemas.openxmlformats.org/drawingml/2006/main">
              <a:ext uri="{FF2B5EF4-FFF2-40B4-BE49-F238E27FC236}">
                <a16:creationId xmlns:a16="http://schemas.microsoft.com/office/drawing/2014/main" id="{907A288E-2698-4992-B687-96A3040A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829300"/>
                <a:gridCol w="2952750"/>
              </a:tblGrid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OOF fold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메타 학습 그룹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OOF 예측 그룹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 · 3 · 4 · 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 · 3 · 4 · 5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 · 2 · 4 · 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 · 2 · 3 · 5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 · 2 · 3 · 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129">
            <a:extLst xmlns:a="http://schemas.openxmlformats.org/drawingml/2006/main">
              <a:ext uri="{FF2B5EF4-FFF2-40B4-BE49-F238E27FC236}">
                <a16:creationId xmlns:a16="http://schemas.microsoft.com/office/drawing/2014/main" id="{37A7D6F4-2319-43D1-A3D7-2C9FB5B4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OOF를 합쳐 후보를 선택  /  base VLM은 다시 학습하지 않음</a:t>
            </a:r>
          </a:p>
        </p:txBody>
      </p:sp>
    </p:spTree>
    <p:extLst>
      <p:ext uri="{BB962C8B-B14F-4D97-AF65-F5344CB8AC3E}">
        <p14:creationId xmlns:p14="http://schemas.microsoft.com/office/powerpoint/2010/main" val="19379954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130">
            <a:extLst xmlns:a="http://schemas.openxmlformats.org/drawingml/2006/main">
              <a:ext uri="{FF2B5EF4-FFF2-40B4-BE49-F238E27FC236}">
                <a16:creationId xmlns:a16="http://schemas.microsoft.com/office/drawing/2014/main" id="{7C86684B-76D0-478A-AA84-2BA8627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후보 선택과 holdout 평가</a:t>
            </a:r>
          </a:p>
        </p:txBody>
      </p:sp>
      <p:sp>
        <p:nvSpPr>
          <p:cNvPr id="2" name="text_131">
            <a:extLst xmlns:a="http://schemas.openxmlformats.org/drawingml/2006/main">
              <a:ext uri="{FF2B5EF4-FFF2-40B4-BE49-F238E27FC236}">
                <a16:creationId xmlns:a16="http://schemas.microsoft.com/office/drawing/2014/main" id="{7299608C-7E51-4B3E-90F1-B22E3FB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선택을 저장한 다음 holdout 결과를 계산한다</a:t>
            </a:r>
          </a:p>
        </p:txBody>
      </p:sp>
      <p:sp>
        <p:nvSpPr>
          <p:cNvPr id="3" name="text_132">
            <a:extLst xmlns:a="http://schemas.openxmlformats.org/drawingml/2006/main">
              <a:ext uri="{FF2B5EF4-FFF2-40B4-BE49-F238E27FC236}">
                <a16:creationId xmlns:a16="http://schemas.microsoft.com/office/drawing/2014/main" id="{5D05F185-2EA7-4E47-8BA7-FE13E0A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14 후보 선택·holdout 동결</a:t>
            </a:r>
          </a:p>
        </p:txBody>
      </p:sp>
      <p:sp>
        <p:nvSpPr>
          <p:cNvPr id="4" name="text_133">
            <a:extLst xmlns:a="http://schemas.openxmlformats.org/drawingml/2006/main">
              <a:ext uri="{FF2B5EF4-FFF2-40B4-BE49-F238E27FC236}">
                <a16:creationId xmlns:a16="http://schemas.microsoft.com/office/drawing/2014/main" id="{66AEA69B-6E29-4C73-AD89-7F3F816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8425"/>
                <a:gridCol w="3371850"/>
                <a:gridCol w="4962525"/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정책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근거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기본값·조건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fixed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미리 정한 레시피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anchor_soft_guard / fallback anchor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fit_oof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내부 OOF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정확도 우선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비anchor 후보 자격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anchor 대비 net 개선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+1문항 이상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동점 처리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harm / changed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적을수록 우선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meta-holdout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후 평가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함수에 정답을 전달하지 않음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9063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_134">
            <a:extLst xmlns:a="http://schemas.openxmlformats.org/drawingml/2006/main">
              <a:ext uri="{FF2B5EF4-FFF2-40B4-BE49-F238E27FC236}">
                <a16:creationId xmlns:a16="http://schemas.microsoft.com/office/drawing/2014/main" id="{0880A8FB-EA02-4279-8385-60C6D05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Rescue·Harm과 실행 비교</a:t>
            </a:r>
          </a:p>
        </p:txBody>
      </p:sp>
      <p:sp>
        <p:nvSpPr>
          <p:cNvPr id="2" name="text_135">
            <a:extLst xmlns:a="http://schemas.openxmlformats.org/drawingml/2006/main">
              <a:ext uri="{FF2B5EF4-FFF2-40B4-BE49-F238E27FC236}">
                <a16:creationId xmlns:a16="http://schemas.microsoft.com/office/drawing/2014/main" id="{BE9F8C3C-BED0-40D9-872E-9EA622C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설명용 100문항  /  바꾼 답의 구제와 정답 훼손을 비교한다</a:t>
            </a:r>
          </a:p>
        </p:txBody>
      </p:sp>
      <p:sp>
        <p:nvSpPr>
          <p:cNvPr id="3" name="text_136">
            <a:extLst xmlns:a="http://schemas.openxmlformats.org/drawingml/2006/main">
              <a:ext uri="{FF2B5EF4-FFF2-40B4-BE49-F238E27FC236}">
                <a16:creationId xmlns:a16="http://schemas.microsoft.com/office/drawing/2014/main" id="{237800C0-F4B3-4AAC-8949-D17261FB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08 지표 · 15 결과 비교</a:t>
            </a:r>
          </a:p>
        </p:txBody>
      </p:sp>
      <p:sp>
        <p:nvSpPr>
          <p:cNvPr id="4" name="text_137">
            <a:extLst xmlns:a="http://schemas.openxmlformats.org/drawingml/2006/main">
              <a:ext uri="{FF2B5EF4-FFF2-40B4-BE49-F238E27FC236}">
                <a16:creationId xmlns:a16="http://schemas.microsoft.com/office/drawing/2014/main" id="{DED87823-017A-45BE-B6F5-BD8701F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5715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3fd16c59f34d07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086600" y="2095500"/>
          <a:ext xmlns:a="http://schemas.openxmlformats.org/drawingml/2006/main" cx="4495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19050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변화 지표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설명용 문항 수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Rescue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Harm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Net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+2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_138">
            <a:extLst xmlns:a="http://schemas.openxmlformats.org/drawingml/2006/main">
              <a:ext uri="{FF2B5EF4-FFF2-40B4-BE49-F238E27FC236}">
                <a16:creationId xmlns:a16="http://schemas.microsoft.com/office/drawing/2014/main" id="{9B49AA7B-7DD2-4417-A916-1231E52D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변경 수만으로 성능을 평가하지 않는다  /  동일 평가 범위에서 비교</a:t>
            </a:r>
          </a:p>
        </p:txBody>
      </p:sp>
    </p:spTree>
    <p:extLst>
      <p:ext uri="{BB962C8B-B14F-4D97-AF65-F5344CB8AC3E}">
        <p14:creationId xmlns:p14="http://schemas.microsoft.com/office/powerpoint/2010/main" val="12680531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39">
            <a:extLst xmlns:a="http://schemas.openxmlformats.org/drawingml/2006/main">
              <a:ext uri="{FF2B5EF4-FFF2-40B4-BE49-F238E27FC236}">
                <a16:creationId xmlns:a16="http://schemas.microsoft.com/office/drawing/2014/main" id="{E92F32D8-8753-406D-8ADC-86298C82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실제 결과 차트와 평가 범위</a:t>
            </a:r>
          </a:p>
        </p:txBody>
      </p:sp>
      <p:sp>
        <p:nvSpPr>
          <p:cNvPr id="2" name="text_140">
            <a:extLst xmlns:a="http://schemas.openxmlformats.org/drawingml/2006/main">
              <a:ext uri="{FF2B5EF4-FFF2-40B4-BE49-F238E27FC236}">
                <a16:creationId xmlns:a16="http://schemas.microsoft.com/office/drawing/2014/main" id="{EAD4D445-C0A3-4454-81CA-299B996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run의 comparison.csv를 report.html에서 확인한다</a:t>
            </a:r>
          </a:p>
        </p:txBody>
      </p:sp>
      <p:sp>
        <p:nvSpPr>
          <p:cNvPr id="3" name="text_141">
            <a:extLst xmlns:a="http://schemas.openxmlformats.org/drawingml/2006/main">
              <a:ext uri="{FF2B5EF4-FFF2-40B4-BE49-F238E27FC236}">
                <a16:creationId xmlns:a16="http://schemas.microsoft.com/office/drawing/2014/main" id="{EFF7CFD5-BB05-47BE-95FD-44CF0D50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16 실제 차트·실행 감사</a:t>
            </a:r>
          </a:p>
        </p:txBody>
      </p:sp>
      <p:sp>
        <p:nvSpPr>
          <p:cNvPr id="4" name="text_142">
            <a:extLst xmlns:a="http://schemas.openxmlformats.org/drawingml/2006/main">
              <a:ext uri="{FF2B5EF4-FFF2-40B4-BE49-F238E27FC236}">
                <a16:creationId xmlns:a16="http://schemas.microsoft.com/office/drawing/2014/main" id="{784F7E9D-65F3-4D16-A2FE-A7188614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568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범위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해석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in-sample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 진단, 메타 과적합 가능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OOF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후보 선택에 사용한 cross-fit 점수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meta-holdout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앙상블 학습·선택에서 제외한 평가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full validation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fit과 holdout을 합친 진단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Public / Private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대회에 제출한 뒤 별도로 확인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143">
            <a:extLst xmlns:a="http://schemas.openxmlformats.org/drawingml/2006/main">
              <a:ext uri="{FF2B5EF4-FFF2-40B4-BE49-F238E27FC236}">
                <a16:creationId xmlns:a16="http://schemas.microsoft.com/office/drawing/2014/main" id="{82C21285-EFA9-4299-B7E1-6B9E628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실제 파일: analysis/comparison.csv  /  charts/report.html</a:t>
            </a:r>
          </a:p>
        </p:txBody>
      </p:sp>
    </p:spTree>
    <p:extLst>
      <p:ext uri="{BB962C8B-B14F-4D97-AF65-F5344CB8AC3E}">
        <p14:creationId xmlns:p14="http://schemas.microsoft.com/office/powerpoint/2010/main" val="1563346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_144">
            <a:extLst xmlns:a="http://schemas.openxmlformats.org/drawingml/2006/main">
              <a:ext uri="{FF2B5EF4-FFF2-40B4-BE49-F238E27FC236}">
                <a16:creationId xmlns:a16="http://schemas.microsoft.com/office/drawing/2014/main" id="{523F39C7-4466-4947-AE1A-031D8E6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test 결합과 제출 CSV</a:t>
            </a:r>
          </a:p>
        </p:txBody>
      </p:sp>
      <p:sp>
        <p:nvSpPr>
          <p:cNvPr id="2" name="text_145">
            <a:extLst xmlns:a="http://schemas.openxmlformats.org/drawingml/2006/main">
              <a:ext uri="{FF2B5EF4-FFF2-40B4-BE49-F238E27FC236}">
                <a16:creationId xmlns:a16="http://schemas.microsoft.com/office/drawing/2014/main" id="{6D512BCF-46A5-4308-86BF-E921A13F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동결한 설정을 test에 적용하고 sample ID 순서로 저장한다</a:t>
            </a:r>
          </a:p>
        </p:txBody>
      </p:sp>
      <p:sp>
        <p:nvSpPr>
          <p:cNvPr id="3" name="text_146">
            <a:extLst xmlns:a="http://schemas.openxmlformats.org/drawingml/2006/main">
              <a:ext uri="{FF2B5EF4-FFF2-40B4-BE49-F238E27FC236}">
                <a16:creationId xmlns:a16="http://schemas.microsoft.com/office/drawing/2014/main" id="{1CF52E2F-1251-4ED2-B2FC-125D65E6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17 제출 CSV·NPY 저장</a:t>
            </a:r>
          </a:p>
        </p:txBody>
      </p:sp>
      <p:sp>
        <p:nvSpPr>
          <p:cNvPr id="4" name="text_147">
            <a:extLst xmlns:a="http://schemas.openxmlformats.org/drawingml/2006/main">
              <a:ext uri="{FF2B5EF4-FFF2-40B4-BE49-F238E27FC236}">
                <a16:creationId xmlns:a16="http://schemas.microsoft.com/office/drawing/2014/main" id="{AF5CE90C-761D-48D9-B39B-48B9EBB3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28</a:t>
            </a:r>
          </a:p>
        </p:txBody>
      </p:sp>
      <p:sp>
        <p:nvSpPr>
          <p:cNvPr id="5" name="rect_148">
            <a:extLst xmlns:a="http://schemas.openxmlformats.org/drawingml/2006/main">
              <a:ext uri="{FF2B5EF4-FFF2-40B4-BE49-F238E27FC236}">
                <a16:creationId xmlns:a16="http://schemas.microsoft.com/office/drawing/2014/main" id="{479520DC-F271-4423-A62D-96A5181F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433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id,answer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001,b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010,a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120,d</a:t>
            </a:r>
          </a:p>
        </p:txBody>
      </p:sp>
      <p:sp>
        <p:nvSpPr>
          <p:cNvPr id="6" name="text_149">
            <a:extLst xmlns:a="http://schemas.openxmlformats.org/drawingml/2006/main">
              <a:ext uri="{FF2B5EF4-FFF2-40B4-BE49-F238E27FC236}">
                <a16:creationId xmlns:a16="http://schemas.microsoft.com/office/drawing/2014/main" id="{3389F419-D42B-465A-A41D-EF056F0A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478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저장 전후 확인</a:t>
            </a:r>
          </a:p>
        </p:txBody>
      </p:sp>
      <p:sp>
        <p:nvSpPr>
          <p:cNvPr id="7" name="text_150">
            <a:extLst xmlns:a="http://schemas.openxmlformats.org/drawingml/2006/main">
              <a:ext uri="{FF2B5EF4-FFF2-40B4-BE49-F238E27FC236}">
                <a16:creationId xmlns:a16="http://schemas.microsoft.com/office/drawing/2014/main" id="{1DE92C24-9E61-4ACA-84FC-FD9D985D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860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두 열: id,answer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행 수 = 실제 sample submission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ID 순서 = sample 원래 순서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답 = 소문자 a/b/c/d</a:t>
            </a:r>
          </a:p>
        </p:txBody>
      </p:sp>
      <p:sp>
        <p:nvSpPr>
          <p:cNvPr id="8" name="text_151">
            <a:extLst xmlns:a="http://schemas.openxmlformats.org/drawingml/2006/main">
              <a:ext uri="{FF2B5EF4-FFF2-40B4-BE49-F238E27FC236}">
                <a16:creationId xmlns:a16="http://schemas.microsoft.com/office/drawing/2014/main" id="{1057D26D-70A4-434E-8A92-AAC645F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최종 파일: submission_selected_&lt;recipe&gt;.csv</a:t>
            </a:r>
          </a:p>
        </p:txBody>
      </p:sp>
    </p:spTree>
    <p:extLst>
      <p:ext uri="{BB962C8B-B14F-4D97-AF65-F5344CB8AC3E}">
        <p14:creationId xmlns:p14="http://schemas.microsoft.com/office/powerpoint/2010/main" val="16680850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52">
            <a:extLst xmlns:a="http://schemas.openxmlformats.org/drawingml/2006/main">
              <a:ext uri="{FF2B5EF4-FFF2-40B4-BE49-F238E27FC236}">
                <a16:creationId xmlns:a16="http://schemas.microsoft.com/office/drawing/2014/main" id="{7FFA536B-7A10-4D42-96E8-3AB35F4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앙상블 NPY 출력</a:t>
            </a:r>
          </a:p>
        </p:txBody>
      </p:sp>
      <p:sp>
        <p:nvSpPr>
          <p:cNvPr id="2" name="text_153">
            <a:extLst xmlns:a="http://schemas.openxmlformats.org/drawingml/2006/main">
              <a:ext uri="{FF2B5EF4-FFF2-40B4-BE49-F238E27FC236}">
                <a16:creationId xmlns:a16="http://schemas.microsoft.com/office/drawing/2014/main" id="{EA160F79-33AD-4CA5-B557-1FE2F152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확률이 있는 후보만 *_probs.npy를 만든다</a:t>
            </a:r>
          </a:p>
        </p:txBody>
      </p:sp>
      <p:sp>
        <p:nvSpPr>
          <p:cNvPr id="3" name="text_154">
            <a:extLst xmlns:a="http://schemas.openxmlformats.org/drawingml/2006/main">
              <a:ext uri="{FF2B5EF4-FFF2-40B4-BE49-F238E27FC236}">
                <a16:creationId xmlns:a16="http://schemas.microsoft.com/office/drawing/2014/main" id="{C6CA439A-ECE4-48B1-9E93-3E3BA55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17 제출 CSV·NPY 저장</a:t>
            </a:r>
          </a:p>
        </p:txBody>
      </p:sp>
      <p:sp>
        <p:nvSpPr>
          <p:cNvPr id="4" name="text_155">
            <a:extLst xmlns:a="http://schemas.openxmlformats.org/drawingml/2006/main">
              <a:ext uri="{FF2B5EF4-FFF2-40B4-BE49-F238E27FC236}">
                <a16:creationId xmlns:a16="http://schemas.microsoft.com/office/drawing/2014/main" id="{2C75F65A-37FB-47BD-B9F2-40185546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24400"/>
                <a:gridCol w="6248400"/>
              </a:tblGrid>
              <a:tr h="574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shape / 의미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valid_ids.json / test_ids.json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저장 행의 ID 순서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*_predictions.npy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(N,) 최종 답 인덱스 0~3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valid_labels.npy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(Nvalid,) 실제 정답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*_probs.npy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(N,4) 실제 평균·routing·메타 확률, 존재 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*_vote_counts.npy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득표 수·가중 점수·진단 counts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156">
            <a:extLst xmlns:a="http://schemas.openxmlformats.org/drawingml/2006/main">
              <a:ext uri="{FF2B5EF4-FFF2-40B4-BE49-F238E27FC236}">
                <a16:creationId xmlns:a16="http://schemas.microsoft.com/office/drawing/2014/main" id="{8C5EBA92-987D-4EAD-A3B4-B174B9F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raw logits를 만들지 않음  /  metadata에 확률의 출처와 학습 범위 기록</a:t>
            </a:r>
          </a:p>
        </p:txBody>
      </p:sp>
    </p:spTree>
    <p:extLst>
      <p:ext uri="{BB962C8B-B14F-4D97-AF65-F5344CB8AC3E}">
        <p14:creationId xmlns:p14="http://schemas.microsoft.com/office/powerpoint/2010/main" val="12019090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157">
            <a:extLst xmlns:a="http://schemas.openxmlformats.org/drawingml/2006/main">
              <a:ext uri="{FF2B5EF4-FFF2-40B4-BE49-F238E27FC236}">
                <a16:creationId xmlns:a16="http://schemas.microsoft.com/office/drawing/2014/main" id="{AEDA9F1E-6ADA-4EEE-843A-7B125C4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run 폴더와 감사 기록</a:t>
            </a:r>
          </a:p>
        </p:txBody>
      </p:sp>
      <p:sp>
        <p:nvSpPr>
          <p:cNvPr id="2" name="text_158">
            <a:extLst xmlns:a="http://schemas.openxmlformats.org/drawingml/2006/main">
              <a:ext uri="{FF2B5EF4-FFF2-40B4-BE49-F238E27FC236}">
                <a16:creationId xmlns:a16="http://schemas.microsoft.com/office/drawing/2014/main" id="{F200C8AE-D57E-4D62-B070-3431AD6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어떤 입력과 규칙으로 결과를 만들었는지 남긴다</a:t>
            </a:r>
          </a:p>
        </p:txBody>
      </p:sp>
      <p:sp>
        <p:nvSpPr>
          <p:cNvPr id="3" name="text_159">
            <a:extLst xmlns:a="http://schemas.openxmlformats.org/drawingml/2006/main">
              <a:ext uri="{FF2B5EF4-FFF2-40B4-BE49-F238E27FC236}">
                <a16:creationId xmlns:a16="http://schemas.microsoft.com/office/drawing/2014/main" id="{09BC87B8-FB36-4D65-8D1D-8171CA77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16 실행 감사 · 17 저장</a:t>
            </a:r>
          </a:p>
        </p:txBody>
      </p:sp>
      <p:sp>
        <p:nvSpPr>
          <p:cNvPr id="4" name="text_160">
            <a:extLst xmlns:a="http://schemas.openxmlformats.org/drawingml/2006/main">
              <a:ext uri="{FF2B5EF4-FFF2-40B4-BE49-F238E27FC236}">
                <a16:creationId xmlns:a16="http://schemas.microsoft.com/office/drawing/2014/main" id="{28EB6A63-1ED5-4093-BE72-FAAFBCD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6953250"/>
              </a:tblGrid>
              <a:tr h="574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폴더·파일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확인할 내용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config / environment / inputs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설정·버전·입력 SHA256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meta_split / fit_parameters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분할 IDs·학습 행·학습된 값·feature 순서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analysis/selection.json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정책·레시피·OOF 근거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analysis / charts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비교표·오답·검토 queue / 실제 결과 차트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probs / candidates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답·확률·metadata / 후보별 미채점 파일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8737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61">
            <a:extLst xmlns:a="http://schemas.openxmlformats.org/drawingml/2006/main">
              <a:ext uri="{FF2B5EF4-FFF2-40B4-BE49-F238E27FC236}">
                <a16:creationId xmlns:a16="http://schemas.microsoft.com/office/drawing/2014/main" id="{AFA6A0B3-CFD8-4501-94EB-66934FE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test soft만 있는 모델</a:t>
            </a:r>
          </a:p>
        </p:txBody>
      </p:sp>
      <p:sp>
        <p:nvSpPr>
          <p:cNvPr id="2" name="text_162">
            <a:extLst xmlns:a="http://schemas.openxmlformats.org/drawingml/2006/main">
              <a:ext uri="{FF2B5EF4-FFF2-40B4-BE49-F238E27FC236}">
                <a16:creationId xmlns:a16="http://schemas.microsoft.com/office/drawing/2014/main" id="{E8D3D0EA-A6B2-4A08-B881-CDBC0AE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validation 학습·순위·자동 선택에서 분리한다</a:t>
            </a:r>
          </a:p>
        </p:txBody>
      </p:sp>
      <p:sp>
        <p:nvSpPr>
          <p:cNvPr id="3" name="text_163">
            <a:extLst xmlns:a="http://schemas.openxmlformats.org/drawingml/2006/main">
              <a:ext uri="{FF2B5EF4-FFF2-40B4-BE49-F238E27FC236}">
                <a16:creationId xmlns:a16="http://schemas.microsoft.com/office/drawing/2014/main" id="{16971D61-F58E-4988-B64F-A97DC6F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18 Test-only 선택 분기</a:t>
            </a:r>
          </a:p>
        </p:txBody>
      </p:sp>
      <p:sp>
        <p:nvSpPr>
          <p:cNvPr id="4" name="text_164">
            <a:extLst xmlns:a="http://schemas.openxmlformats.org/drawingml/2006/main">
              <a:ext uri="{FF2B5EF4-FFF2-40B4-BE49-F238E27FC236}">
                <a16:creationId xmlns:a16="http://schemas.microsoft.com/office/drawing/2014/main" id="{2D893DA8-A82B-4043-9424-F5F7D45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1150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complete 모델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test-only 모델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공통 valid + test 확인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test만 확인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학습·후보 비교에 사용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가중치 학습·valid 비교에서 제외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제출과 candidate 저장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TESTONLY 파일 저장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holdout 성능 측정 가능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validation 성적 미확인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165">
            <a:extLst xmlns:a="http://schemas.openxmlformats.org/drawingml/2006/main">
              <a:ext uri="{FF2B5EF4-FFF2-40B4-BE49-F238E27FC236}">
                <a16:creationId xmlns:a16="http://schemas.microsoft.com/office/drawing/2014/main" id="{578CC5B1-91D2-4971-97C9-B28BDCC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test-only의 고정 결합 결과는 검증된 최종 후보와 구분한다</a:t>
            </a:r>
          </a:p>
        </p:txBody>
      </p:sp>
    </p:spTree>
    <p:extLst>
      <p:ext uri="{BB962C8B-B14F-4D97-AF65-F5344CB8AC3E}">
        <p14:creationId xmlns:p14="http://schemas.microsoft.com/office/powerpoint/2010/main" val="7446777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66">
            <a:extLst xmlns:a="http://schemas.openxmlformats.org/drawingml/2006/main">
              <a:ext uri="{FF2B5EF4-FFF2-40B4-BE49-F238E27FC236}">
                <a16:creationId xmlns:a16="http://schemas.microsoft.com/office/drawing/2014/main" id="{EB3FC8E4-F027-4584-9884-2256F8E3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수동 검토와 수정 기록</a:t>
            </a:r>
          </a:p>
        </p:txBody>
      </p:sp>
      <p:sp>
        <p:nvSpPr>
          <p:cNvPr id="2" name="text_167">
            <a:extLst xmlns:a="http://schemas.openxmlformats.org/drawingml/2006/main">
              <a:ext uri="{FF2B5EF4-FFF2-40B4-BE49-F238E27FC236}">
                <a16:creationId xmlns:a16="http://schemas.microsoft.com/office/drawing/2014/main" id="{08AB7C2B-1EA9-4993-9D5B-1EC2364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의견 불일치 문항을 확인하고 수정 CSV를 별도로 남긴다</a:t>
            </a:r>
          </a:p>
        </p:txBody>
      </p:sp>
      <p:sp>
        <p:nvSpPr>
          <p:cNvPr id="3" name="text_168">
            <a:extLst xmlns:a="http://schemas.openxmlformats.org/drawingml/2006/main">
              <a:ext uri="{FF2B5EF4-FFF2-40B4-BE49-F238E27FC236}">
                <a16:creationId xmlns:a16="http://schemas.microsoft.com/office/drawing/2014/main" id="{9EBBE7A3-02CF-4A3D-897B-58AEA23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18 수동 검토 선택 분기</a:t>
            </a:r>
          </a:p>
        </p:txBody>
      </p:sp>
      <p:sp>
        <p:nvSpPr>
          <p:cNvPr id="4" name="text_169">
            <a:extLst xmlns:a="http://schemas.openxmlformats.org/drawingml/2006/main">
              <a:ext uri="{FF2B5EF4-FFF2-40B4-BE49-F238E27FC236}">
                <a16:creationId xmlns:a16="http://schemas.microsoft.com/office/drawing/2014/main" id="{B671915C-6A1E-4C65-A8BC-D0E9DD8A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32</a:t>
            </a:r>
          </a:p>
        </p:txBody>
      </p:sp>
      <p:sp>
        <p:nvSpPr>
          <p:cNvPr id="5" name="rect_170">
            <a:extLst xmlns:a="http://schemas.openxmlformats.org/drawingml/2006/main">
              <a:ext uri="{FF2B5EF4-FFF2-40B4-BE49-F238E27FC236}">
                <a16:creationId xmlns:a16="http://schemas.microsoft.com/office/drawing/2014/main" id="{A70C1F35-A3BD-4829-B54A-A55DF96B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id,before,after,reason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001,a,b,이미지 원본과 질문을 함께 확인한 근거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371850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485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기록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내용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test_review_queue.csv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불일치·답 교체 / 정답 unknown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manual_changes_applied.csv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ID·before·after·reason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submission_MANUAL_reviewed.csv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원본과 별도 제출 파일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원래 soft 확률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 수정에 맞춰 바꾸지 않음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7674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71">
            <a:extLst xmlns:a="http://schemas.openxmlformats.org/drawingml/2006/main">
              <a:ext uri="{FF2B5EF4-FFF2-40B4-BE49-F238E27FC236}">
                <a16:creationId xmlns:a16="http://schemas.microsoft.com/office/drawing/2014/main" id="{8D17CC26-B789-4A54-B3FA-55F8F6E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실행 순서</a:t>
            </a:r>
          </a:p>
        </p:txBody>
      </p:sp>
      <p:sp>
        <p:nvSpPr>
          <p:cNvPr id="2" name="text_172">
            <a:extLst xmlns:a="http://schemas.openxmlformats.org/drawingml/2006/main">
              <a:ext uri="{FF2B5EF4-FFF2-40B4-BE49-F238E27FC236}">
                <a16:creationId xmlns:a16="http://schemas.microsoft.com/office/drawing/2014/main" id="{3716EEC2-1842-4E73-AA79-2F2E38B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경로를 채운 뒤 inspect, evaluate, export 순서로 실행한다</a:t>
            </a:r>
          </a:p>
        </p:txBody>
      </p:sp>
      <p:sp>
        <p:nvSpPr>
          <p:cNvPr id="3" name="text_173">
            <a:extLst xmlns:a="http://schemas.openxmlformats.org/drawingml/2006/main">
              <a:ext uri="{FF2B5EF4-FFF2-40B4-BE49-F238E27FC236}">
                <a16:creationId xmlns:a16="http://schemas.microsoft.com/office/drawing/2014/main" id="{FE6F48F0-1613-4C34-BCEF-14E4D17B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19 실행기 · 20 실행 설정</a:t>
            </a:r>
          </a:p>
        </p:txBody>
      </p:sp>
      <p:sp>
        <p:nvSpPr>
          <p:cNvPr id="4" name="text_174">
            <a:extLst xmlns:a="http://schemas.openxmlformats.org/drawingml/2006/main">
              <a:ext uri="{FF2B5EF4-FFF2-40B4-BE49-F238E27FC236}">
                <a16:creationId xmlns:a16="http://schemas.microsoft.com/office/drawing/2014/main" id="{899A3619-1B31-497C-AF6B-976C5A35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55435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수행하는 일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self_check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CPU 합성 예시로 코드 자체 확인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inspect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입력·ID·문항·출처 검사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evaluate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meta-fit / OOF / 선택 / holdout 결과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export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설정으로 test 결합·CSV·NPY 저장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rect_175">
            <a:extLst xmlns:a="http://schemas.openxmlformats.org/drawingml/2006/main">
              <a:ext uri="{FF2B5EF4-FFF2-40B4-BE49-F238E27FC236}">
                <a16:creationId xmlns:a16="http://schemas.microsoft.com/office/drawing/2014/main" id="{A8DDE28D-5EC0-497B-87A1-5E1E0C2C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209550" tIns="17145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RUN_MODE = "export"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RESULT = run_ensemble(CFG, RUN_MODE)</a:t>
            </a:r>
          </a:p>
        </p:txBody>
      </p:sp>
    </p:spTree>
    <p:extLst>
      <p:ext uri="{BB962C8B-B14F-4D97-AF65-F5344CB8AC3E}">
        <p14:creationId xmlns:p14="http://schemas.microsoft.com/office/powerpoint/2010/main" val="15019951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619375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cxnSp>
        <p:nvCxnSpPr>
          <p:cNvPr id="1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61937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4C4"/>
            </a:solidFill>
            <a:prstDash val="solid"/>
            <a:tailEnd type="arrow" w="med" len="med"/>
          </a:ln>
        </p:spPr>
      </p:cxnSp>
      <p:sp>
        <p:nvSpPr>
          <p:cNvPr id="14" name="text_176">
            <a:extLst xmlns:a="http://schemas.openxmlformats.org/drawingml/2006/main">
              <a:ext uri="{FF2B5EF4-FFF2-40B4-BE49-F238E27FC236}">
                <a16:creationId xmlns:a16="http://schemas.microsoft.com/office/drawing/2014/main" id="{196F7515-5788-4B21-872D-492C4829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과거 RF_v1과 최종 A의 계보</a:t>
            </a:r>
          </a:p>
        </p:txBody>
      </p:sp>
      <p:sp>
        <p:nvSpPr>
          <p:cNvPr id="2" name="text_177">
            <a:extLst xmlns:a="http://schemas.openxmlformats.org/drawingml/2006/main">
              <a:ext uri="{FF2B5EF4-FFF2-40B4-BE49-F238E27FC236}">
                <a16:creationId xmlns:a16="http://schemas.microsoft.com/office/drawing/2014/main" id="{742A800A-4FBF-4CBE-959C-BC79878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사용자 제공 기록과 새 베이스 구현을 구분한다</a:t>
            </a:r>
          </a:p>
        </p:txBody>
      </p:sp>
      <p:sp>
        <p:nvSpPr>
          <p:cNvPr id="3" name="text_178">
            <a:extLst xmlns:a="http://schemas.openxmlformats.org/drawingml/2006/main">
              <a:ext uri="{FF2B5EF4-FFF2-40B4-BE49-F238E27FC236}">
                <a16:creationId xmlns:a16="http://schemas.microsoft.com/office/drawing/2014/main" id="{272F0D8A-1F2F-4619-9725-72354BAF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별첨 · 과거 프로젝트 기록</a:t>
            </a:r>
          </a:p>
        </p:txBody>
      </p:sp>
      <p:sp>
        <p:nvSpPr>
          <p:cNvPr id="4" name="text_179">
            <a:extLst xmlns:a="http://schemas.openxmlformats.org/drawingml/2006/main">
              <a:ext uri="{FF2B5EF4-FFF2-40B4-BE49-F238E27FC236}">
                <a16:creationId xmlns:a16="http://schemas.microsoft.com/office/drawing/2014/main" id="{D33BD0AA-0933-4CF0-A5A9-808D3D67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34</a:t>
            </a:r>
          </a:p>
        </p:txBody>
      </p:sp>
      <p:sp>
        <p:nvSpPr>
          <p:cNvPr id="5" name="rect_180">
            <a:extLst xmlns:a="http://schemas.openxmlformats.org/drawingml/2006/main">
              <a:ext uri="{FF2B5EF4-FFF2-40B4-BE49-F238E27FC236}">
                <a16:creationId xmlns:a16="http://schemas.microsoft.com/office/drawing/2014/main" id="{25F99704-0982-4357-A6D7-034E095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기존 RF_v1</a:t>
            </a:r>
          </a:p>
        </p:txBody>
      </p:sp>
      <p:sp>
        <p:nvSpPr>
          <p:cNvPr id="6" name="rect_181">
            <a:extLst xmlns:a="http://schemas.openxmlformats.org/drawingml/2006/main">
              <a:ext uri="{FF2B5EF4-FFF2-40B4-BE49-F238E27FC236}">
                <a16:creationId xmlns:a16="http://schemas.microsoft.com/office/drawing/2014/main" id="{00232F7C-2120-49BC-BBF5-B057F82D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62175"/>
            <a:ext cx="29432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F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최종 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15개 답 수정</a:t>
            </a:r>
          </a:p>
        </p:txBody>
      </p:sp>
      <p:sp>
        <p:nvSpPr>
          <p:cNvPr id="7" name="rect_182">
            <a:extLst xmlns:a="http://schemas.openxmlformats.org/drawingml/2006/main">
              <a:ext uri="{FF2B5EF4-FFF2-40B4-BE49-F238E27FC236}">
                <a16:creationId xmlns:a16="http://schemas.microsoft.com/office/drawing/2014/main" id="{809513A2-4368-4EE2-A7A6-0088CCB6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BD6DF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A 이후 후보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추가 4개 수정</a:t>
            </a:r>
          </a:p>
        </p:txBody>
      </p:sp>
      <p:sp>
        <p:nvSpPr>
          <p:cNvPr id="10" name="text_183">
            <a:extLst xmlns:a="http://schemas.openxmlformats.org/drawingml/2006/main">
              <a:ext uri="{FF2B5EF4-FFF2-40B4-BE49-F238E27FC236}">
                <a16:creationId xmlns:a16="http://schemas.microsoft.com/office/drawing/2014/main" id="{888139CF-49D5-4070-8B05-5396DD17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90900"/>
            <a:ext cx="728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수동 검토 기록: 18문항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7115175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경로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범위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B: core3_plus_RF21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예비안 / 정확한 점수 미제공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새 rf_meta / rf_guard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RF 방식 제공 / 과거 RF_v1 재현 미확인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990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84">
            <a:extLst xmlns:a="http://schemas.openxmlformats.org/drawingml/2006/main">
              <a:ext uri="{FF2B5EF4-FFF2-40B4-BE49-F238E27FC236}">
                <a16:creationId xmlns:a16="http://schemas.microsoft.com/office/drawing/2014/main" id="{C7E37666-453F-4967-A989-2213838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제출로 확인된 과거 결과</a:t>
            </a:r>
          </a:p>
        </p:txBody>
      </p:sp>
      <p:sp>
        <p:nvSpPr>
          <p:cNvPr id="2" name="text_185">
            <a:extLst xmlns:a="http://schemas.openxmlformats.org/drawingml/2006/main">
              <a:ext uri="{FF2B5EF4-FFF2-40B4-BE49-F238E27FC236}">
                <a16:creationId xmlns:a16="http://schemas.microsoft.com/office/drawing/2014/main" id="{DF302F9A-25C5-43EA-B2E3-B31650C1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A는 확인된 최고 제출이며 가능한 모든 조합의 최적해는 미확인이다</a:t>
            </a:r>
          </a:p>
        </p:txBody>
      </p:sp>
      <p:sp>
        <p:nvSpPr>
          <p:cNvPr id="3" name="text_186">
            <a:extLst xmlns:a="http://schemas.openxmlformats.org/drawingml/2006/main">
              <a:ext uri="{FF2B5EF4-FFF2-40B4-BE49-F238E27FC236}">
                <a16:creationId xmlns:a16="http://schemas.microsoft.com/office/drawing/2014/main" id="{80AB224D-98D0-417C-BAB3-C18805A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별첨 · 사용자 제공 성적</a:t>
            </a:r>
          </a:p>
        </p:txBody>
      </p:sp>
      <p:sp>
        <p:nvSpPr>
          <p:cNvPr id="4" name="text_187">
            <a:extLst xmlns:a="http://schemas.openxmlformats.org/drawingml/2006/main">
              <a:ext uri="{FF2B5EF4-FFF2-40B4-BE49-F238E27FC236}">
                <a16:creationId xmlns:a16="http://schemas.microsoft.com/office/drawing/2014/main" id="{EA233F5E-1DF3-4466-BF54-568AFFA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4371975"/>
                <a:gridCol w="2162175"/>
                <a:gridCol w="2162175"/>
              </a:tblGrid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제출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기록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Public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Private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RF_v1 대비 15개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0.98182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0.98302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예비안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미확인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미확인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 이후 후보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A에서 추가 4개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0.98153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0.98272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188">
            <a:extLst xmlns:a="http://schemas.openxmlformats.org/drawingml/2006/main">
              <a:ext uri="{FF2B5EF4-FFF2-40B4-BE49-F238E27FC236}">
                <a16:creationId xmlns:a16="http://schemas.microsoft.com/office/drawing/2014/main" id="{C2E8BF2B-B902-4AFD-8434-CBE5F55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집계 점수만으로 개별 test 정답을 확정할 수 없음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A4510A"/>
                </a:solidFill>
                <a:latin typeface="Noto Sans CJK KR"/>
                <a:ea typeface="Noto Sans CJK KR"/>
                <a:cs typeface="Noto Sans CJK KR"/>
              </a:rPr>
              <a:t>Public·Private를 반복 참조한 규칙 수정은 과적합 위험</a:t>
            </a:r>
          </a:p>
        </p:txBody>
      </p:sp>
    </p:spTree>
    <p:extLst>
      <p:ext uri="{BB962C8B-B14F-4D97-AF65-F5344CB8AC3E}">
        <p14:creationId xmlns:p14="http://schemas.microsoft.com/office/powerpoint/2010/main" val="10992266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_189">
            <a:extLst xmlns:a="http://schemas.openxmlformats.org/drawingml/2006/main">
              <a:ext uri="{FF2B5EF4-FFF2-40B4-BE49-F238E27FC236}">
                <a16:creationId xmlns:a16="http://schemas.microsoft.com/office/drawing/2014/main" id="{6F82EF2D-F4C3-4B26-827A-4F72A0C2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32B3B"/>
                </a:solidFill>
                <a:latin typeface="Noto Sans CJK KR"/>
                <a:ea typeface="Noto Sans CJK KR"/>
                <a:cs typeface="Noto Sans CJK KR"/>
              </a:rPr>
              <a:t>전체 단계와 공부 순서</a:t>
            </a:r>
          </a:p>
        </p:txBody>
      </p:sp>
      <p:sp>
        <p:nvSpPr>
          <p:cNvPr id="2" name="text_190">
            <a:extLst xmlns:a="http://schemas.openxmlformats.org/drawingml/2006/main">
              <a:ext uri="{FF2B5EF4-FFF2-40B4-BE49-F238E27FC236}">
                <a16:creationId xmlns:a16="http://schemas.microsoft.com/office/drawing/2014/main" id="{A054948C-259A-4970-890A-F999A886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모델 출력의 의미부터 RF 선택·최종 감사까지 순서대로 읽는다</a:t>
            </a:r>
          </a:p>
        </p:txBody>
      </p:sp>
      <p:sp>
        <p:nvSpPr>
          <p:cNvPr id="3" name="text_191">
            <a:extLst xmlns:a="http://schemas.openxmlformats.org/drawingml/2006/main">
              <a:ext uri="{FF2B5EF4-FFF2-40B4-BE49-F238E27FC236}">
                <a16:creationId xmlns:a16="http://schemas.microsoft.com/office/drawing/2014/main" id="{990E83CD-1C9F-4B9F-A5AA-E90E21F6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20단계 학습 지도</a:t>
            </a:r>
          </a:p>
        </p:txBody>
      </p:sp>
      <p:sp>
        <p:nvSpPr>
          <p:cNvPr id="4" name="text_192">
            <a:extLst xmlns:a="http://schemas.openxmlformats.org/drawingml/2006/main">
              <a:ext uri="{FF2B5EF4-FFF2-40B4-BE49-F238E27FC236}">
                <a16:creationId xmlns:a16="http://schemas.microsoft.com/office/drawing/2014/main" id="{F0A2A92C-BFBB-4DA9-BA9C-DC4D350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26574"/>
                </a:solidFill>
                <a:latin typeface="Noto Sans CJK KR"/>
                <a:ea typeface="Noto Sans CJK KR"/>
                <a:cs typeface="Noto Sans CJK KR"/>
              </a:rPr>
              <a:t>36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33625"/>
                <a:gridCol w="5972175"/>
              </a:tblGrid>
              <a:tr h="62293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공부 구간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노트북 단계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확인</a:t>
                      </a:r>
                    </a:p>
                  </a:txBody>
                  <a:tcPr marL="133350" marR="133350" marT="76200" marB="76200" anchor="ctr">
                    <a:solidFill>
                      <a:srgbClr val="102937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준비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01~06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환경·설정·CSV/NPY·ID·클래스·공통 valid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학습·결합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07~12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 split·지표·soft·투표·guard·RF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선택·평가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13~16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OOF·선택·오류 보완·실제 차트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출력·실행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17~20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CSV·NPY·감사·수동·실행 모드</a:t>
                      </a:r>
                    </a:p>
                  </a:txBody>
                  <a:tcPr marL="133350" marR="133350" marT="76200" marB="762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_193">
            <a:extLst xmlns:a="http://schemas.openxmlformats.org/drawingml/2006/main">
              <a:ext uri="{FF2B5EF4-FFF2-40B4-BE49-F238E27FC236}">
                <a16:creationId xmlns:a16="http://schemas.microsoft.com/office/drawing/2014/main" id="{809E057C-F00A-45F7-B835-1353F2E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087D73"/>
                </a:solidFill>
                <a:latin typeface="Noto Sans CJK KR"/>
                <a:ea typeface="Noto Sans CJK KR"/>
                <a:cs typeface="Noto Sans CJK KR"/>
              </a:rPr>
              <a:t>상세 해설·함수 위치·추가 코드는 함께 제공하는 Code_Guide.md에서 확인</a:t>
            </a:r>
          </a:p>
        </p:txBody>
      </p:sp>
    </p:spTree>
    <p:extLst>
      <p:ext uri="{BB962C8B-B14F-4D97-AF65-F5344CB8AC3E}">
        <p14:creationId xmlns:p14="http://schemas.microsoft.com/office/powerpoint/2010/main" val="196156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2026-10-06T00:26:16.2720000Z</dcterms:created>
  <dcterms:modified xsi:type="dcterms:W3CDTF">2026-10-06T00:26:16.2720000Z</dcterms:modified>
</coreProperties>
</file>